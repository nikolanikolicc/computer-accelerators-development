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59640" y="1091160"/>
            <a:ext cx="75592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3640" y="2742480"/>
            <a:ext cx="9071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09217A-B335-433D-9ED9-71D2BAE913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sr-Latn-R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59640" y="1091160"/>
            <a:ext cx="75592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4"/>
          </p:nvPr>
        </p:nvSpPr>
        <p:spPr>
          <a:xfrm>
            <a:off x="3338640" y="5255280"/>
            <a:ext cx="3400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7118640" y="5255280"/>
            <a:ext cx="2266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EC8609-59F6-458A-81F0-A30273C0133A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6"/>
          </p:nvPr>
        </p:nvSpPr>
        <p:spPr>
          <a:xfrm>
            <a:off x="692640" y="5255280"/>
            <a:ext cx="2266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59640" y="1091160"/>
            <a:ext cx="75592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3338640" y="5255280"/>
            <a:ext cx="3400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7118640" y="5255280"/>
            <a:ext cx="2266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6D4FFA-E7A1-48D7-9503-7F2501B97F3B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692640" y="5255280"/>
            <a:ext cx="2266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ftr" idx="10"/>
          </p:nvPr>
        </p:nvSpPr>
        <p:spPr>
          <a:xfrm>
            <a:off x="3338640" y="5255280"/>
            <a:ext cx="3400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11"/>
          </p:nvPr>
        </p:nvSpPr>
        <p:spPr>
          <a:xfrm>
            <a:off x="7118640" y="5255280"/>
            <a:ext cx="2266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4B7BC1-2256-4495-BA29-17172ECFC512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2"/>
          </p:nvPr>
        </p:nvSpPr>
        <p:spPr>
          <a:xfrm>
            <a:off x="692640" y="5255280"/>
            <a:ext cx="2266200" cy="3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59640" y="1091160"/>
            <a:ext cx="75592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3"/>
          </p:nvPr>
        </p:nvSpPr>
        <p:spPr>
          <a:xfrm>
            <a:off x="3339000" y="5256000"/>
            <a:ext cx="3400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4"/>
          </p:nvPr>
        </p:nvSpPr>
        <p:spPr>
          <a:xfrm>
            <a:off x="7119000" y="5256000"/>
            <a:ext cx="2266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2A966C-9F1E-48FB-92B6-C7CC84D8A837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5"/>
          </p:nvPr>
        </p:nvSpPr>
        <p:spPr>
          <a:xfrm>
            <a:off x="692640" y="5256000"/>
            <a:ext cx="2266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59640" y="1091160"/>
            <a:ext cx="75592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16"/>
          </p:nvPr>
        </p:nvSpPr>
        <p:spPr>
          <a:xfrm>
            <a:off x="3339000" y="5256000"/>
            <a:ext cx="3400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sldNum" idx="17"/>
          </p:nvPr>
        </p:nvSpPr>
        <p:spPr>
          <a:xfrm>
            <a:off x="7119000" y="5256000"/>
            <a:ext cx="2266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67720B-BB47-4B9A-A787-687B0F52E351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dt" idx="18"/>
          </p:nvPr>
        </p:nvSpPr>
        <p:spPr>
          <a:xfrm>
            <a:off x="692640" y="5256000"/>
            <a:ext cx="2266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ftr" idx="19"/>
          </p:nvPr>
        </p:nvSpPr>
        <p:spPr>
          <a:xfrm>
            <a:off x="3339000" y="5256000"/>
            <a:ext cx="3400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20"/>
          </p:nvPr>
        </p:nvSpPr>
        <p:spPr>
          <a:xfrm>
            <a:off x="7119000" y="5256000"/>
            <a:ext cx="2266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E48240-9FDC-4B13-8782-66846704543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21"/>
          </p:nvPr>
        </p:nvSpPr>
        <p:spPr>
          <a:xfrm>
            <a:off x="692640" y="5256000"/>
            <a:ext cx="2266920" cy="3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59640" y="1243800"/>
            <a:ext cx="755928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2B3E64-F8F8-4C5B-BA19-6D41D8F83155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docs.jax.dev/en/latest/pallas/tpu/matmul.html" TargetMode="External"/><Relationship Id="rId2" Type="http://schemas.openxmlformats.org/officeDocument/2006/relationships/hyperlink" Target="https://sqtian.com/post/pallas_tpu_matmul_kernel/" TargetMode="External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mailto:sp253068m@student.etf.bg.ac.rs" TargetMode="External"/><Relationship Id="rId2" Type="http://schemas.openxmlformats.org/officeDocument/2006/relationships/hyperlink" Target="mailto:nn253109m@student.etf.bg.ac.rs" TargetMode="External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43760" y="407160"/>
            <a:ext cx="8927640" cy="197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65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Множење матрица – Data Flow парадигма, GoogleTPU технологија</a:t>
            </a:r>
            <a:endParaRPr lang="en-US" sz="465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892800" y="3720240"/>
            <a:ext cx="8183520" cy="133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2"/>
          <p:cNvPicPr/>
          <p:nvPr/>
        </p:nvPicPr>
        <p:blipFill>
          <a:blip r:embed="rId1"/>
          <a:stretch/>
        </p:blipFill>
        <p:spPr>
          <a:xfrm>
            <a:off x="4464360" y="2381040"/>
            <a:ext cx="1177920" cy="14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2"/>
          <p:cNvSpPr/>
          <p:nvPr/>
        </p:nvSpPr>
        <p:spPr>
          <a:xfrm>
            <a:off x="8280000" y="500436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FFD19636-A4B0-4FF9-873B-FF9E23A96A29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961D72C1-E357-43EC-A721-06A34D2A7C70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0" y="-720"/>
            <a:ext cx="10085760" cy="56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Rectangle 17"/>
          <p:cNvSpPr/>
          <p:nvPr/>
        </p:nvSpPr>
        <p:spPr>
          <a:xfrm>
            <a:off x="8280000" y="500508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EE5FAAA3-0123-4A4B-88CC-314EC0BF8A4B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96E5194E-14A3-45AF-8385-2EC3363482AE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3"/>
          <p:cNvSpPr/>
          <p:nvPr/>
        </p:nvSpPr>
        <p:spPr>
          <a:xfrm>
            <a:off x="465480" y="295560"/>
            <a:ext cx="889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Мотивација: зашто TPU?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/>
          <p:nvPr/>
        </p:nvSpPr>
        <p:spPr>
          <a:xfrm>
            <a:off x="838440" y="1825920"/>
            <a:ext cx="870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CPU – дизајниран за опште операције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Multiply-accumulate му није јача страна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GPU – убрзава паралелизам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Оптимизован за графику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– tensor processing unit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Специјализован ASIC дизајн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ASIC – Application Specific Integrated Circuit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ectangle 1"/>
          <p:cNvSpPr/>
          <p:nvPr/>
        </p:nvSpPr>
        <p:spPr>
          <a:xfrm>
            <a:off x="8280000" y="500472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5531533D-F0F8-49A1-B458-03CFC4B37DF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ACF060B3-0D28-4B06-9EF2-D4413B21B4D8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7"/>
          <p:cNvSpPr/>
          <p:nvPr/>
        </p:nvSpPr>
        <p:spPr>
          <a:xfrm>
            <a:off x="465480" y="295560"/>
            <a:ext cx="889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Мотивација: зашто TPU?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8"/>
          <p:cNvSpPr/>
          <p:nvPr/>
        </p:nvSpPr>
        <p:spPr>
          <a:xfrm>
            <a:off x="838440" y="1825920"/>
            <a:ext cx="870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Множење матрица - срж неуралних мрежа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70-90% рачунског времена тренинга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v4: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Red Oak систем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4096 чипова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1.1 exaFLOP/s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4"/>
          <p:cNvSpPr/>
          <p:nvPr/>
        </p:nvSpPr>
        <p:spPr>
          <a:xfrm>
            <a:off x="8280000" y="500472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846E8CF9-FB37-41A4-8E42-D6E28D67D837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D5DAF04A-D27D-4548-9AE0-EF090E5448A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9"/>
          <p:cNvSpPr/>
          <p:nvPr/>
        </p:nvSpPr>
        <p:spPr>
          <a:xfrm>
            <a:off x="465480" y="295560"/>
            <a:ext cx="907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TPU архитектура(висок ниво)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0"/>
          <p:cNvSpPr/>
          <p:nvPr/>
        </p:nvSpPr>
        <p:spPr>
          <a:xfrm>
            <a:off x="838440" y="1825920"/>
            <a:ext cx="870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Централна јединица: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MXU (Matrix Multiply Unit)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128x129 systolic array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4096 PE (processing element)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Сваки PE: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Прима податке од суседа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Множи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Прослеђује даље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5"/>
          <p:cNvSpPr/>
          <p:nvPr/>
        </p:nvSpPr>
        <p:spPr>
          <a:xfrm>
            <a:off x="8280000" y="500472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DDF102A4-0884-4193-89FE-B27B4E08A13C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C646A16C-7FDA-4E72-87E0-6863DCE55C2C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/>
          <p:cNvPicPr/>
          <p:nvPr/>
        </p:nvPicPr>
        <p:blipFill>
          <a:blip r:embed="rId1"/>
          <a:stretch/>
        </p:blipFill>
        <p:spPr>
          <a:xfrm>
            <a:off x="900000" y="429840"/>
            <a:ext cx="5219640" cy="478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6480000" y="540000"/>
            <a:ext cx="3239640" cy="41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2х2 grid PE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Матрице А, В, С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Хијерархија мем: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L1 кеш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L2 кеш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L3 кеш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6"/>
          <p:cNvSpPr/>
          <p:nvPr/>
        </p:nvSpPr>
        <p:spPr>
          <a:xfrm>
            <a:off x="8280000" y="500472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32EBD1E6-A496-409F-943D-4FAEC7D4884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1FD6F6D2-A776-450F-8FFA-AC4426618EBC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1"/>
          <p:cNvSpPr/>
          <p:nvPr/>
        </p:nvSpPr>
        <p:spPr>
          <a:xfrm>
            <a:off x="465480" y="295560"/>
            <a:ext cx="907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Systolic Array: како ради?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2"/>
          <p:cNvSpPr/>
          <p:nvPr/>
        </p:nvSpPr>
        <p:spPr>
          <a:xfrm>
            <a:off x="838440" y="1825920"/>
            <a:ext cx="870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 мрежу PE чворова: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Улаз матрице А утискује се слева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Улаз матрице В утискује се одозго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Сваки PE: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Прима парцијални збир одозго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Прима елемент матрице слева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Множи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Акумулира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Прослеђује доле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ectangle 8"/>
          <p:cNvSpPr/>
          <p:nvPr/>
        </p:nvSpPr>
        <p:spPr>
          <a:xfrm>
            <a:off x="8280000" y="500472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F69242F6-B7A9-466A-BCEF-31A56885DC52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7A249579-E7AD-481E-9F6A-9E861418C9E2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7"/>
          <p:cNvSpPr/>
          <p:nvPr/>
        </p:nvSpPr>
        <p:spPr>
          <a:xfrm>
            <a:off x="8280000" y="5004720"/>
            <a:ext cx="72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3916DF7C-63D0-4B34-8A9F-5DF4DF797B59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F3517196-E1E8-4ED3-8359-64EE952F418E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1"/>
          <a:stretch/>
        </p:blipFill>
        <p:spPr>
          <a:xfrm>
            <a:off x="2820960" y="900000"/>
            <a:ext cx="5098680" cy="459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/>
          <p:nvPr/>
        </p:nvSpPr>
        <p:spPr>
          <a:xfrm>
            <a:off x="900000" y="376920"/>
            <a:ext cx="8819640" cy="70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Пропагација података кроз 2D grid кроз 9 циклуса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5"/>
          <p:cNvSpPr/>
          <p:nvPr/>
        </p:nvSpPr>
        <p:spPr>
          <a:xfrm>
            <a:off x="465480" y="295560"/>
            <a:ext cx="907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Systolic Array: како ради?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6"/>
          <p:cNvSpPr/>
          <p:nvPr/>
        </p:nvSpPr>
        <p:spPr>
          <a:xfrm>
            <a:off x="838440" y="1825920"/>
            <a:ext cx="870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 мрежу PE чворова: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Улаз матрице А утискује се слева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Улаз матрице В утискује се одозго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Сваки PE: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Прима парцијални збир одозго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Прима елемент матрице слева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Множи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Акумулира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Прослеђује доле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10"/>
          <p:cNvSpPr/>
          <p:nvPr/>
        </p:nvSpPr>
        <p:spPr>
          <a:xfrm>
            <a:off x="8280000" y="500508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AA6AF652-FD46-4E05-BCAE-816B916D3435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8793CECB-1682-4088-842D-D81A90B9D67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3"/>
          <p:cNvSpPr/>
          <p:nvPr/>
        </p:nvSpPr>
        <p:spPr>
          <a:xfrm>
            <a:off x="465480" y="295560"/>
            <a:ext cx="907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Google Colab + TPU: Setup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4"/>
          <p:cNvSpPr/>
          <p:nvPr/>
        </p:nvSpPr>
        <p:spPr>
          <a:xfrm>
            <a:off x="838440" y="1825920"/>
            <a:ext cx="870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Colab runtime: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Runtime → Change runtime type → TPU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Доступни су TPU v2-8 (8 језгара)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има 8 чипова → 8 XLA device-a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TPU0..7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Приступ Pytorch-у: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torch_xla библиотека – PyTorch XLA backend za TPU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Приступ у JAX-у: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Нативна подршка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је подразумевани акцелератор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9"/>
          <p:cNvSpPr/>
          <p:nvPr/>
        </p:nvSpPr>
        <p:spPr>
          <a:xfrm>
            <a:off x="8280000" y="500508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CB67A4D8-8FD2-4019-85A2-17738AE90F97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252B69B5-C141-4D88-9CB4-9107922769D0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7"/>
          <p:cNvSpPr/>
          <p:nvPr/>
        </p:nvSpPr>
        <p:spPr>
          <a:xfrm>
            <a:off x="465480" y="295560"/>
            <a:ext cx="907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ЈАХ: Зашто ТРU?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8"/>
          <p:cNvSpPr/>
          <p:nvPr/>
        </p:nvSpPr>
        <p:spPr>
          <a:xfrm>
            <a:off x="838440" y="1825920"/>
            <a:ext cx="888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ЈАХ – NumPy compatible библиотека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Jax.jit() компајлира Python функцију у XLA(Accelerated Lilnear Algebra)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Оптимизује меморијски распоред аутоматски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Jax.numpy је drop-in замена за NumPy – исти API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pmap() - паралелизација по свим чиповима TPU-a аутоматски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vmap() - векторизација функција апо димензијама без писања петљи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11"/>
          <p:cNvSpPr/>
          <p:nvPr/>
        </p:nvSpPr>
        <p:spPr>
          <a:xfrm>
            <a:off x="8280000" y="500508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07B6833C-21BD-4B05-B455-2F7ACE1ABEED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461EB10A-A2E9-4F94-8DC8-188CD1BD59D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9"/>
          <p:cNvSpPr/>
          <p:nvPr/>
        </p:nvSpPr>
        <p:spPr>
          <a:xfrm>
            <a:off x="465480" y="295560"/>
            <a:ext cx="907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Код: основни matmul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0"/>
          <p:cNvSpPr/>
          <p:nvPr/>
        </p:nvSpPr>
        <p:spPr>
          <a:xfrm>
            <a:off x="838440" y="1825920"/>
            <a:ext cx="888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Инсталација: !pip install jax[tpu] са Google Cloud TPU URL-ом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Иницијализација: провера уређаја jax.devices()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Креирање матрица: jax.numpy.ones((N, N)) на TPU device-у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Егзекуција: позив функције → првим позивом компајлирање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Свим наредним брзо извршавање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Мерење времена time.time() уз jnp.block_until_ready() за прецизност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8280000" y="500508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6DF8368E-9108-47CC-93A6-49F33E48476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8FB3F848-DA19-4A81-B65D-F4E38472FEE8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21"/>
          <p:cNvSpPr/>
          <p:nvPr/>
        </p:nvSpPr>
        <p:spPr>
          <a:xfrm>
            <a:off x="465480" y="295560"/>
            <a:ext cx="907416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Код: Pmap паралелизација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2"/>
          <p:cNvSpPr/>
          <p:nvPr/>
        </p:nvSpPr>
        <p:spPr>
          <a:xfrm>
            <a:off x="838440" y="1825920"/>
            <a:ext cx="888120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Вишечипна паралелизација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jax.pmap() аутоматски дистрибуира рачунање на свих 8 TPU чипова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Матрице се деле по batch димензији: сваки чип добија 1/8 посла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Резултат: 8х убрзање за batch множење без ручног управљања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lax.pmean() - редукција резултата са свих чипова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Идеалан за тренинг неуралних мрежа: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Сваки чип тренира на делу batch-a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8280000" y="500508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6178B36A-0D9B-4967-ADBB-EBDA0C1F93C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5F4D8189-792E-45A8-8473-B429304E7BA3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23"/>
          <p:cNvSpPr/>
          <p:nvPr/>
        </p:nvSpPr>
        <p:spPr>
          <a:xfrm>
            <a:off x="360000" y="295560"/>
            <a:ext cx="935964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Benchmark: CPU vs GPU vs TPU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4"/>
          <p:cNvSpPr/>
          <p:nvPr/>
        </p:nvSpPr>
        <p:spPr>
          <a:xfrm>
            <a:off x="360000" y="1825920"/>
            <a:ext cx="935964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Тестирана величина матрице: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1024х1024, float32 → bf16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CPU (Intel Xeon, Colab) ~ 350ms по множењу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GPU (T4, Colab) ~ 3.5ms по множењу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v2-8 (један чип) ~ 0.8ms по множењу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v2-8 (pmap, 8 чипова) ~ 0.12ms за batch oд 8 матрица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Напомена: JAX JIT компајлирање (warm-up) траје 5-15s при првом позиву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Мерити тек након тога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4"/>
          <p:cNvSpPr/>
          <p:nvPr/>
        </p:nvSpPr>
        <p:spPr>
          <a:xfrm>
            <a:off x="8280000" y="500508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A8F90FE2-BB5C-47A5-9188-5F318F49F7D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351F9051-C1B2-46FE-BD82-600D9D607D1B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25"/>
          <p:cNvSpPr/>
          <p:nvPr/>
        </p:nvSpPr>
        <p:spPr>
          <a:xfrm>
            <a:off x="360000" y="295560"/>
            <a:ext cx="935964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Ограничења и напомене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6"/>
          <p:cNvSpPr/>
          <p:nvPr/>
        </p:nvSpPr>
        <p:spPr>
          <a:xfrm>
            <a:off x="360000" y="1825920"/>
            <a:ext cx="953964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  преферира bf16 и int8 -  float32 операције су спорије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За пуну MXU искоришћеност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Пуњење димензија (padding) на вишекратнике 128 је критично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Комуникација host ↔ TPU је скупа: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Минимизовати трансфер података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block_until_ready() је обавезан за тачно мерење – JAX je асинхрон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није увек доступан на Colab-u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5"/>
          <p:cNvSpPr/>
          <p:nvPr/>
        </p:nvSpPr>
        <p:spPr>
          <a:xfrm>
            <a:off x="8280360" y="500544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6072C66C-5470-44B2-9BB9-48A713560CA9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BA2868CA-5E4D-4C20-8FB1-61AC8270A741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27"/>
          <p:cNvSpPr/>
          <p:nvPr/>
        </p:nvSpPr>
        <p:spPr>
          <a:xfrm>
            <a:off x="360000" y="295560"/>
            <a:ext cx="935964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Закључак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8"/>
          <p:cNvSpPr/>
          <p:nvPr/>
        </p:nvSpPr>
        <p:spPr>
          <a:xfrm>
            <a:off x="360000" y="1825920"/>
            <a:ext cx="953964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TPU systolic array је оптимизован ASIC за тензорске операције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JAX + jit + pmap = минималан код, максимална искоришћеност TPU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Кључна лекција: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Хардвер архитектура директно диктира стратегију кодирања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Матрица → MXU → резултат за 1 такт при пуном 128х128 tile-у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Следећи корак: XLA profiler, custom kernels, JAX shard_map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Додатна литература: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1"/>
              </a:rPr>
              <a:t>https://docs.jax.dev/en/latest/pallas/tpu/matmul.html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hlinkClick r:id="rId2"/>
              </a:rPr>
              <a:t>https://sqtian.com/post/pallas_tpu_matmul_kernel/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6"/>
          <p:cNvSpPr/>
          <p:nvPr/>
        </p:nvSpPr>
        <p:spPr>
          <a:xfrm>
            <a:off x="8280720" y="500580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47A2E6C6-68E8-47D7-953E-BEA5513A401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665D9AF9-AD15-446D-9A80-0D37F9ABDD30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720000" y="581400"/>
            <a:ext cx="8819640" cy="6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sr-Latn-RS" sz="1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"The best way to accelerate a computation is to not do it at all, and the second best way is to do it in hardware."</a:t>
            </a: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Jeff Dean, Google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1260000" y="1525680"/>
            <a:ext cx="7895160" cy="333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angle 18"/>
          <p:cNvSpPr/>
          <p:nvPr/>
        </p:nvSpPr>
        <p:spPr>
          <a:xfrm>
            <a:off x="8281080" y="500616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F6EFFAC8-C64E-4E25-AC85-FA167DF5709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76461461-63B8-4CAD-969B-CA96E3F916D8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59640" y="594360"/>
            <a:ext cx="7559280" cy="197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Хвала на пажњи!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1259640" y="2351520"/>
            <a:ext cx="7559280" cy="262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1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8280000" y="500472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5D278735-4F0D-41B1-874C-B069145210E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6F6DE784-04A7-4F22-87BA-DA7F32E0106E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2026-05-22T13:18:31Z</dcterms:created>
  <dc:creator/>
  <dc:description/>
  <dc:language>sr-Latn-RS</dc:language>
  <cp:lastModifiedBy/>
  <dcterms:modified xsi:type="dcterms:W3CDTF">2026-05-22T14:54:13Z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