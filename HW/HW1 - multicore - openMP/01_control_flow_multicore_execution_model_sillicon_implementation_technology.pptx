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lnSpc>
                <a:spcPct val="90000"/>
              </a:lnSpc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move the slide</a:t>
            </a:r>
            <a:endParaRPr lang="sr-Latn-R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sr-Latn-R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sr-Latn-R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12D86-92DA-4D53-8A55-3D73EB188919}" type="slidenum"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sr-Latn-R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sr-Latn-R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7470A3-7FB0-4862-8AF6-F90220CC06C6}" type="slidenum">
              <a:rPr lang="sr-Latn-R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 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68646D-DA21-4346-9402-A3C5FACB28FE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940361-A642-40B1-92D3-B1180B30A5DA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14B597-BE8E-4B63-8D61-A73ADDF4AA3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D91D25-A6BD-4314-8DCD-9461B60644E4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8C33D0-8EFE-47F6-BB75-C90F38C6A6A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618848-CD07-4080-BD31-15C831F9A179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D1AD3F-7C9C-46C4-B2ED-83F6242C9C25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AD7192-AB04-42EE-B09E-F4B4B08123D8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A58D4E-B3B6-4DFE-9E22-D04236A35AAF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level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level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level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838DCB-F25C-4CCA-9FE1-10570DE724F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Click to edit Master title style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sr-Latn-R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sr-Latn-RS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Master text styles</a:t>
            </a:r>
            <a:endParaRPr lang="sr-Latn-RS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sr-Latn-R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sr-Latn-R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D3FD8F-61D9-45FF-A0F0-1D0D061E8D53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hyperlink" Target="mailto:sp253068m@student.etf.bg.ac.rs" TargetMode="External"/><Relationship Id="rId2" Type="http://schemas.openxmlformats.org/officeDocument/2006/relationships/hyperlink" Target="mailto:nn253109m@student.etf.bg.ac.rs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Num" idx="3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FD4609-8D78-4CE6-9CEF-EB3B6B6FD14F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B33848ED-9C28-4AB9-AA9B-5FAEC8D46B28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&lt;count&gt;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1"/>
          <p:cNvSpPr txBox="1"/>
          <p:nvPr/>
        </p:nvSpPr>
        <p:spPr>
          <a:xfrm>
            <a:off x="900360" y="493200"/>
            <a:ext cx="10799640" cy="2386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rm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en-US" sz="465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матрица – Control Flow парадигма, Si имплементациона технологија</a:t>
            </a:r>
            <a:endParaRPr lang="sr-Latn-RS" sz="465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5400360" y="2880360"/>
            <a:ext cx="1425960" cy="175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2"/>
          <p:cNvSpPr txBox="1"/>
          <p:nvPr/>
        </p:nvSpPr>
        <p:spPr>
          <a:xfrm>
            <a:off x="1080360" y="4500360"/>
            <a:ext cx="9899640" cy="1619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Електротехнички факултет, Универзитет у Београду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br>
              <a:rPr sz="2000"/>
            </a:b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Down Arrow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800280" y="1491840"/>
            <a:ext cx="3333240" cy="3498840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91280" y="1773000"/>
            <a:ext cx="3348720" cy="254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Aptos Display"/>
              </a:rPr>
              <a:t>matmul_seq – Секвенцијална имплементација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72" name="Content Placeholder 3" descr="A Complete Beginners Guide to Matrix Multiplication for Data Science with  Python Numpy | by GreekDataGuy | TDS Archive | Medium"/>
          <p:cNvPicPr/>
          <p:nvPr/>
        </p:nvPicPr>
        <p:blipFill>
          <a:blip r:embed="rId1"/>
          <a:stretch/>
        </p:blipFill>
        <p:spPr>
          <a:xfrm>
            <a:off x="4777200" y="1376640"/>
            <a:ext cx="6780240" cy="410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Slide Number Placeholder 5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3FB4757C-D31B-407D-A36C-7746AE24043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2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E1EE862C-F935-48B0-A527-CD6C3C8AA334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75" name="Picture 3" descr="Modular: Row-major vs. Column-major Matrices: A Performance Analysis in  Mojo and NumPy"/>
          <p:cNvPicPr/>
          <p:nvPr/>
        </p:nvPicPr>
        <p:blipFill>
          <a:blip r:embed="rId1"/>
          <a:srcRect l="11554" t="20649" r="12903" b="16519"/>
          <a:stretch/>
        </p:blipFill>
        <p:spPr>
          <a:xfrm>
            <a:off x="1905120" y="2130120"/>
            <a:ext cx="8091000" cy="4727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60000" y="552960"/>
            <a:ext cx="5640840" cy="167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sr-Latn-RS" sz="4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Да ли може боље?</a:t>
            </a:r>
            <a:endParaRPr lang="sr-Latn-RS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524560" y="552960"/>
            <a:ext cx="6535440" cy="167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Како учитавамо матрицу у меморију?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</a:t>
            </a: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ow-major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Column-major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Non-coalesced read (разбуцани приступ)</a:t>
            </a:r>
            <a:endParaRPr lang="sr-Latn-R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8" name="Slide Number Placeholder 4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42BEB4A9-819C-4A15-B9B4-6CAA8C1AFD1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3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793A7DBA-139D-499D-BB17-ED4304B284C6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matmul_seq_t –</a:t>
            </a: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транспоновање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Транспоновањем матрице В постиже се: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Колоне се учитавају у меморију као редови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Редови се учитавају у меморију као колоне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Са row-major учитавања прелази се на column-major 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Цена: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За транспонованје је потребна додатна меморија 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1" name="Slide Number Placeholder 6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1AC5DEAE-2098-4FBB-A68E-12008ECCCE0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3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8AFD162D-FBE8-447A-97B0-051B699C8EC9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matmul_seq_t –</a:t>
            </a: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 транспоновање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Izmene u algoritmu: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Elementi matrice B ne čitaju se po kolonama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Elementi matrice B se čitaju po redovima 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Razlog - kolone su postale redovi nakon transponovanja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 li mo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že brže?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4" name="Slide Number Placeholder 7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EAEBFBFA-CE34-41B1-9385-F47158C8E6D0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3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D055E455-E568-4841-8093-1C95E53C2635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20000" y="360000"/>
            <a:ext cx="10463760" cy="11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sr-Latn-RS" sz="4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Поређењеmatmul_seq и matmul_seq_t</a:t>
            </a:r>
            <a:endParaRPr lang="sr-Latn-RS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87" name="Picture 3"/>
          <p:cNvPicPr/>
          <p:nvPr/>
        </p:nvPicPr>
        <p:blipFill>
          <a:blip r:embed="rId1"/>
          <a:stretch/>
        </p:blipFill>
        <p:spPr>
          <a:xfrm>
            <a:off x="1009800" y="2286360"/>
            <a:ext cx="4717800" cy="232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4"/>
          <p:cNvPicPr/>
          <p:nvPr/>
        </p:nvPicPr>
        <p:blipFill>
          <a:blip r:embed="rId2"/>
          <a:stretch/>
        </p:blipFill>
        <p:spPr>
          <a:xfrm>
            <a:off x="5727960" y="2286360"/>
            <a:ext cx="4936680" cy="243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Slide Number Placeholder 8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6FD35B94-BD3B-45DC-8B5F-B15628021872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6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BC1D8AE5-7595-4E48-AD24-577BA2358A71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91" name="Picture 5"/>
          <p:cNvPicPr/>
          <p:nvPr/>
        </p:nvPicPr>
        <p:blipFill>
          <a:blip r:embed="rId1"/>
          <a:stretch/>
        </p:blipFill>
        <p:spPr>
          <a:xfrm>
            <a:off x="1612080" y="1880640"/>
            <a:ext cx="8967600" cy="4416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Slide Number Placeholder 9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D2043754-F321-4099-9AA8-20F2D97220C9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6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D3FC15FE-E6E3-457C-8881-F09EDABF76DA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itle 2"/>
          <p:cNvSpPr txBox="1"/>
          <p:nvPr/>
        </p:nvSpPr>
        <p:spPr>
          <a:xfrm>
            <a:off x="720000" y="360360"/>
            <a:ext cx="10463760" cy="1111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algn="ctr" defTabSz="914400">
              <a:lnSpc>
                <a:spcPct val="90000"/>
              </a:lnSpc>
            </a:pPr>
            <a:r>
              <a:rPr lang="sr-Latn-RS" sz="4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Поређењеmatmul_seq и matmul_seq_t</a:t>
            </a:r>
            <a:endParaRPr lang="sr-Latn-RS" sz="4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GFLOPS метрика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pic>
        <p:nvPicPr>
          <p:cNvPr id="95" name="Picture 3"/>
          <p:cNvPicPr/>
          <p:nvPr/>
        </p:nvPicPr>
        <p:blipFill>
          <a:blip r:embed="rId1"/>
          <a:stretch/>
        </p:blipFill>
        <p:spPr>
          <a:xfrm>
            <a:off x="524160" y="2030760"/>
            <a:ext cx="5571360" cy="330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4"/>
          <p:cNvPicPr/>
          <p:nvPr/>
        </p:nvPicPr>
        <p:blipFill>
          <a:blip r:embed="rId2"/>
          <a:stretch/>
        </p:blipFill>
        <p:spPr>
          <a:xfrm>
            <a:off x="6266880" y="2030760"/>
            <a:ext cx="5571360" cy="3306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Slide Number Placeholder 10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4FAB8113-C39D-47C8-80DB-1AC9DC01DEF7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7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47A54D17-B1B1-46A5-B0AC-43E36143B1CE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Шта је OpenMP?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OpenMP је апликативни програмски интерфејс (API) 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Програмирање паралелних рачунарских система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Користи концепте нити и послова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Представља скуп надоградњи за Fortran, C i C++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Надоградње се састоје из: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Преводичачких директива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Рутина за  извршне библиотеке (runtime)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Променљивих окружења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0" name="Slide Number Placeholder 11"/>
          <p:cNvSpPr txBox="1"/>
          <p:nvPr/>
        </p:nvSpPr>
        <p:spPr>
          <a:xfrm>
            <a:off x="8610840" y="635688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BA6B9900-11B6-4C0F-814D-15619B4745C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7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CEDE2F09-B881-456E-AC92-DD62A3B4CF9D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Директиве и ознаке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Директива је посебна линија изворног кода 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Има значење само одређеним преводиоцима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Препознаје се преко ознаке на почетку (sentinel):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# pragma omp – ознака за C/C++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3" name="Slide Number Placeholder 12"/>
          <p:cNvSpPr txBox="1"/>
          <p:nvPr/>
        </p:nvSpPr>
        <p:spPr>
          <a:xfrm>
            <a:off x="8611200" y="6357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24DD13FB-81EA-4227-8CDA-3E3EBFFF780F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7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E3FF98F1-D8AD-4D92-BE7A-819AD52BB017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sr-Latn-R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Паралелни регион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l-PL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Основна паралелна конструкција у OpenMP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Паралелни регион дефинише секцију једног програма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Свака нит извршава наредбе задате унутар региона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Посао се реплицира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Главна нит равноправно учествује у послу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Унутар паралелног региона, променљиве могу бити: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Дељене (shared)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Приватне (private)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6" name="Slide Number Placeholder 13"/>
          <p:cNvSpPr txBox="1"/>
          <p:nvPr/>
        </p:nvSpPr>
        <p:spPr>
          <a:xfrm>
            <a:off x="8611200" y="6357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DE32CCC5-D9ED-4746-A4B1-F93FD9DB1BDF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35E7CE17-A0A7-4319-8FD2-B4268DFB2C40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Паралелне петље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12219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У OpenMP постоје и директиве 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Назначени посао се дели међу нитима, а не реплицира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То су worksharing директиве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OpenMP има опсежну подршку за паралелизацију петљи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На овај начин могу да се паралелизују само петље: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sr-Latn-R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Где се број итерација може израчунати у compile time-у</a:t>
            </a:r>
            <a:endParaRPr lang="sr-Latn-RS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09" name="Slide Number Placeholder 14"/>
          <p:cNvSpPr txBox="1"/>
          <p:nvPr/>
        </p:nvSpPr>
        <p:spPr>
          <a:xfrm>
            <a:off x="8611200" y="6357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3E0026A2-8C43-453A-A97B-3F580D9B6D25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8F431014-8488-4266-A250-BC44354D821C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914400">
              <a:lnSpc>
                <a:spcPct val="9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Множење (A:MxK, B:KxN) на 8 нити</a:t>
            </a:r>
            <a:endParaRPr lang="sr-Latn-RS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graphicFrame>
        <p:nvGraphicFramePr>
          <p:cNvPr id="111" name="Content Placeholder 3"/>
          <p:cNvGraphicFramePr/>
          <p:nvPr/>
        </p:nvGraphicFramePr>
        <p:xfrm>
          <a:off x="838080" y="1825560"/>
          <a:ext cx="10515240" cy="4078800"/>
        </p:xfrm>
        <a:graphic>
          <a:graphicData uri="http://schemas.openxmlformats.org/drawingml/2006/table">
            <a:tbl>
              <a:tblPr/>
              <a:tblGrid>
                <a:gridCol w="1752480"/>
                <a:gridCol w="1752480"/>
                <a:gridCol w="1752480"/>
                <a:gridCol w="1752480"/>
                <a:gridCol w="1752480"/>
                <a:gridCol w="17524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M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K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N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time_seq_t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Time_par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Aptos"/>
                        </a:rPr>
                        <a:t>speedup</a:t>
                      </a:r>
                      <a:endParaRPr lang="sr-Latn-R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0.002750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0.000700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3.93x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sr-Latn-R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0.013500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0.002450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5.51x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350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0.040550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0.005350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7,58x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450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0.086150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0.011850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7.27x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512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512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512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0.134700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0.018000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7.48x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0.271200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0.041550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6.52x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0.419800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0.059700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7.03x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900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0.617950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0.092000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7.37x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1024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1024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1024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1.105050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0.165900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6.66x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2048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2048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2048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8.869000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1.394950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Aptos"/>
                        </a:rPr>
                        <a:t>6.36x</a:t>
                      </a:r>
                      <a:endParaRPr lang="sr-Latn-R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2" name="Slide Number Placeholder 15"/>
          <p:cNvSpPr txBox="1"/>
          <p:nvPr/>
        </p:nvSpPr>
        <p:spPr>
          <a:xfrm>
            <a:off x="8611200" y="6357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524DD287-A422-45C2-BBC4-0CFDF4D2717B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9D6A51A3-C73F-4BE4-B849-A938E36868E4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lide Number Placeholder 2"/>
          <p:cNvSpPr txBox="1"/>
          <p:nvPr/>
        </p:nvSpPr>
        <p:spPr>
          <a:xfrm>
            <a:off x="8611200" y="635724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 defTabSz="914400">
              <a:lnSpc>
                <a:spcPct val="100000"/>
              </a:lnSpc>
            </a:pPr>
            <a:fld id="{3D759011-E803-4AB9-BBD9-54FC62797296}" type="slidenum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r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/</a:t>
            </a:r>
            <a:fld id="{47A0A6C2-5C1B-4A2C-A261-B86D8B7894F2}" type="slidecount">
              <a:rPr lang="sr-Latn-RS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14</a:t>
            </a:fld>
            <a:endParaRPr lang="sr-Latn-R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 txBox="1"/>
          <p:nvPr/>
        </p:nvSpPr>
        <p:spPr>
          <a:xfrm>
            <a:off x="1523880" y="720000"/>
            <a:ext cx="9143280" cy="2387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sr-Latn-RS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Хвала на пажњи!</a:t>
            </a:r>
            <a:endParaRPr lang="sr-Latn-RS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15" name="PlaceHolder 4"/>
          <p:cNvSpPr txBox="1"/>
          <p:nvPr/>
        </p:nvSpPr>
        <p:spPr>
          <a:xfrm>
            <a:off x="1523880" y="3156840"/>
            <a:ext cx="9143280" cy="2546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 anchorCtr="1">
            <a:sp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Припремили: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Павле Шаренац</a:t>
            </a: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 2025/3068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1"/>
              </a:rPr>
              <a:t>sp253068m@student.etf.bg.ac.rs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</a:rPr>
              <a:t>Никола Николић 2025/3109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sr-Latn-RS" sz="2800" b="0" u="none" strike="noStrike">
                <a:solidFill>
                  <a:schemeClr val="dk1"/>
                </a:solidFill>
                <a:effectLst/>
                <a:uFillTx/>
                <a:latin typeface="Aptos"/>
                <a:ea typeface="Microsoft YaHei"/>
                <a:hlinkClick r:id="rId2"/>
              </a:rPr>
              <a:t>nn253109m@student.etf.bg.ac.rs</a:t>
            </a:r>
            <a:endParaRPr lang="sr-Latn-RS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</TotalTime>
  <Application>LibreOffice/26.2.3.2$Windows_X86_64 LibreOffice_project/70e089b17412e4cb7773e41413306b17a2328c34</Application>
  <AppVersion>15.0000</AppVersion>
  <Words>458</Words>
  <Paragraphs>138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2026-05-07T09:48:56Z</dcterms:created>
  <dc:creator>Никола Николић</dc:creator>
  <dc:description/>
  <dc:language>sr-Latn-RS</dc:language>
  <cp:lastModifiedBy/>
  <dcterms:modified xsi:type="dcterms:W3CDTF">2026-05-17T19:01:01Z</dcterms:modified>
  <cp:revision>66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14</vt:i4>
  </property>
</Properties>
</file>