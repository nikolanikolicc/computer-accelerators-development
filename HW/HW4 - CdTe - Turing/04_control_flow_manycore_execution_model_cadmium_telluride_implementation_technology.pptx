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FF85F5-1184-4151-8EF8-91EBDE176C9C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11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342D4E8-6DB7-4E40-A888-500F322235B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11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18C9E7-A05E-4BAD-A3EA-2D652C146E50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11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378632-1E9D-4799-A65A-C2C990E3337D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1FE3DE-923D-41EB-951A-75A1871CB8B2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06C18A-7F89-4A55-B577-3DE9C15240B3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07D907-D7C1-4973-A3B7-D3C1F849AEE3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E0A8AF-BC10-4AFA-B17A-58D586609A39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722356-84BA-4E17-AF7E-958162FAE11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DED8CE-04C9-443A-8252-266CDD03F485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C2B280-1C84-4BE3-93CA-AB404CF5D627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E285B2-B07D-4F0B-B0AC-395D8322C4D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64AA4E-F027-4996-88B7-C92773AF70D0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mailto:sp253068m@student.etf.bg.ac.rs" TargetMode="External"/><Relationship Id="rId2" Type="http://schemas.openxmlformats.org/officeDocument/2006/relationships/hyperlink" Target="mailto:nn253109m@student.etf.bg.ac.rs" TargetMode="External"/><Relationship Id="rId3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00000" y="492840"/>
            <a:ext cx="1079964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65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Множење матрица – Control Flow парадигма, CdTe имплементациона технологија</a:t>
            </a:r>
            <a:endParaRPr lang="en-US" sz="465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080000" y="4500000"/>
            <a:ext cx="9899640" cy="16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Електротехнички факултет, Универзитет у Београду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br>
              <a:rPr sz="2000"/>
            </a:b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"/>
          <p:cNvPicPr/>
          <p:nvPr/>
        </p:nvPicPr>
        <p:blipFill>
          <a:blip r:embed="rId1"/>
          <a:stretch/>
        </p:blipFill>
        <p:spPr>
          <a:xfrm>
            <a:off x="5400000" y="2880000"/>
            <a:ext cx="1425960" cy="175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"/>
          <p:cNvSpPr/>
          <p:nvPr/>
        </p:nvSpPr>
        <p:spPr>
          <a:xfrm>
            <a:off x="10152000" y="6053040"/>
            <a:ext cx="1547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A4C668DB-1700-445D-910E-A346D4DDE698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560A30C7-03B7-4029-9FA4-D7D8CA6135DA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Шта је CdTe?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Cd – Cadmium (метал)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 – Telluride(полуметал)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Алтернатива силицијуму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II-VI полупроводник: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Бандгап од 1.5eV идеалан за соларне ћелије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Тачка топљења 1041</a:t>
            </a: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°C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, веома стабилан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Апсорбује исту количину светлости као Si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Ово ради са 40 пута тањим слојем материјала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8" name=""/>
          <p:cNvSpPr/>
          <p:nvPr/>
        </p:nvSpPr>
        <p:spPr>
          <a:xfrm>
            <a:off x="10152000" y="6053040"/>
            <a:ext cx="1547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CFF8C77F-7CFF-4F70-A434-56D2B3B8465F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8E3E5355-4094-447A-ABC0-6ACC49572F69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4680"/>
            <a:ext cx="10514880" cy="132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Примена CdTe полупроводника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216000" indent="-216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CdTe се готово уопште не користи за: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Прављење транзисторе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Логичких чипова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Користи се као материјал за: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Соларне ћелије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Детекторе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Електрони се крећу спорије него у Si: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μCdTe / μSi​​ ​≈ 1100 / 1400​≈0,79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Segoe UI"/>
              </a:rPr>
              <a:t>→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Segoe UI"/>
              </a:rPr>
              <a:t> 21% спорији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0152000" y="6052680"/>
            <a:ext cx="1547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7E7C107C-73A4-4ED4-A343-6F16E9B3C0F5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1724B8DD-0EE8-4CE8-9290-D40511929A2F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4680"/>
            <a:ext cx="10514880" cy="132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Мане CdTe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Токсичност кадмијума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Ниска покретљивост електрона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Индустрија је прилагођена за Si, прелазак скуп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4" name=""/>
          <p:cNvSpPr/>
          <p:nvPr/>
        </p:nvSpPr>
        <p:spPr>
          <a:xfrm>
            <a:off x="10152000" y="6053040"/>
            <a:ext cx="1547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B3194EF6-5233-473A-9C24-DF9C426D73A2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E831B884-0570-4269-832D-EA1D12EAB8EB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4680"/>
            <a:ext cx="10514880" cy="132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Matmul на CdTe чипу?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216000" indent="-216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Тјурингова теза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Сваки физички процес може бити реализован ТМ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Ово укључује и прави CdTe чип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Резултат идентичан, разлика је у: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Брзини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Енергетској ефикасности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0152000" y="6053040"/>
            <a:ext cx="1547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6D2CD40E-CD03-42CA-8D64-4FCC48F90A4B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8F1EE335-FF5C-4575-AB9B-52A32B93FC92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Ограничени скуп инструкција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2160000" y="1681200"/>
            <a:ext cx="294372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ИНСТРУКЦИЈА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900000" y="2505240"/>
            <a:ext cx="420372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6B1E1"/>
              </a:buClr>
              <a:buFont typeface="Arial"/>
              <a:buChar char="•"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ptos"/>
              </a:rPr>
              <a:t>SKIP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RS" sz="2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C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OND_</a:t>
            </a:r>
            <a:r>
              <a:rPr lang="sr-Latn-RS" sz="2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SKIP </a:t>
            </a: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cond</a:t>
            </a:r>
            <a:r>
              <a:rPr lang="sr-Latn-RS" sz="2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INC r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C04F15"/>
              </a:buClr>
              <a:buFont typeface="Arial"/>
              <a:buChar char="•"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Aptos"/>
              </a:rPr>
              <a:t>ADD r1 r2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7200000" y="1681200"/>
            <a:ext cx="41547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sr-Latn-R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ЗНАЧЕЊЕ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/>
          </p:nvPr>
        </p:nvSpPr>
        <p:spPr>
          <a:xfrm>
            <a:off x="5400000" y="2505240"/>
            <a:ext cx="647964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46B1E1"/>
              </a:buClr>
              <a:buFont typeface="Arial"/>
              <a:buChar char="•"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ptos"/>
              </a:rPr>
              <a:t>Безусловни скок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Скок уколико је услов испуњен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 = r + 1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C04F15"/>
              </a:buClr>
              <a:buFont typeface="Arial"/>
              <a:buChar char="•"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Aptos"/>
              </a:rPr>
              <a:t>r1 = r1 + r2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3" name=""/>
          <p:cNvSpPr/>
          <p:nvPr/>
        </p:nvSpPr>
        <p:spPr>
          <a:xfrm>
            <a:off x="10152000" y="6053040"/>
            <a:ext cx="1547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8A7F7783-107A-4076-AE4C-5A3D43D34432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D29E4759-D25B-4E40-BE96-D5E86020D2B7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Множење – псеудо код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C[i][j] = sum over k of A[i][k] * B[k][j]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= | a00 a01 |        B = | b00 b01 |        C = A*B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        | a10 a11 |               | b10 b11 |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Шта добијамо ако развијемо матрицу?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6" name=""/>
          <p:cNvSpPr/>
          <p:nvPr/>
        </p:nvSpPr>
        <p:spPr>
          <a:xfrm>
            <a:off x="10152000" y="6053040"/>
            <a:ext cx="1547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D1C8781E-78F8-413D-87CB-A60D91EBE41C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DE2FDDC8-8350-4504-9841-9F49DF28D659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Множење - модел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914400" y="1825560"/>
            <a:ext cx="104385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Матрице су смештене у меморију као низ ћелија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Множење имплементирамо као сабирање: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x B = A puta dodati B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99" name="Picture 4"/>
          <p:cNvPicPr/>
          <p:nvPr/>
        </p:nvPicPr>
        <p:blipFill>
          <a:blip r:embed="rId1"/>
          <a:stretch/>
        </p:blipFill>
        <p:spPr>
          <a:xfrm>
            <a:off x="2639520" y="3302640"/>
            <a:ext cx="6900120" cy="281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10152000" y="6053040"/>
            <a:ext cx="1547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8202608A-6D44-433A-990F-41B33B20BF26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7ECA85F5-8F7E-4D31-8005-885BD94849FF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24760" y="-180000"/>
            <a:ext cx="10514880" cy="89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Модел меморије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graphicFrame>
        <p:nvGraphicFramePr>
          <p:cNvPr id="102" name="Content Placeholder 3"/>
          <p:cNvGraphicFramePr/>
          <p:nvPr/>
        </p:nvGraphicFramePr>
        <p:xfrm>
          <a:off x="1145520" y="584640"/>
          <a:ext cx="10514520" cy="5730480"/>
        </p:xfrm>
        <a:graphic>
          <a:graphicData uri="http://schemas.openxmlformats.org/drawingml/2006/table">
            <a:tbl>
              <a:tblPr/>
              <a:tblGrid>
                <a:gridCol w="1716120"/>
                <a:gridCol w="2139840"/>
                <a:gridCol w="665892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Mem. Adr.</a:t>
                      </a:r>
                      <a:endParaRPr lang="sr-Latn-R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Name</a:t>
                      </a:r>
                      <a:endParaRPr lang="sr-Latn-R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Description</a:t>
                      </a:r>
                      <a:endParaRPr lang="sr-Latn-R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12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TMP_CNT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sr-Latn-R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counter for multiplication loops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13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loop counter for rows of A (outer loop)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14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j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loop counter for columns of B (middle loop)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15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k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loop counter for inner product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16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TMP_A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temporary storage for current A[i][k] element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17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TMP_B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temporary storage for current B[k][j] element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18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ADDR_A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computed memory address for accessing A[i][k]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19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ADDR_B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computed memory address for accessing B[k][j]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ADDR_C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computed memory address for accessing/updating C[i][j]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21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N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dimensions: number of rows in A (outer loop limit)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22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dimensions: number of columns in A / rows in B (inner loop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23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dimensions: number of columns in B (middle loop limit)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24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TMP_MUL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sr-Latn-R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accumulator for multiplication result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3" name=""/>
          <p:cNvSpPr/>
          <p:nvPr/>
        </p:nvSpPr>
        <p:spPr>
          <a:xfrm>
            <a:off x="10332000" y="6232680"/>
            <a:ext cx="1547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3792DF33-D74A-4CA6-B494-6886510B4CE4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0D8890A7-61D4-4278-9DD8-6E2F66DEA56F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05" name="Picture 8" descr="Turing machine - Wikipedia"/>
          <p:cNvPicPr/>
          <p:nvPr/>
        </p:nvPicPr>
        <p:blipFill>
          <a:blip r:embed="rId1"/>
          <a:srcRect l="2258" t="0" r="3624" b="-1"/>
          <a:stretch/>
        </p:blipFill>
        <p:spPr>
          <a:xfrm>
            <a:off x="2522520" y="0"/>
            <a:ext cx="966888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66080" cy="685728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00"/>
                </a:srgbClr>
              </a:gs>
              <a:gs pos="35000">
                <a:srgbClr val="FFFFFF">
                  <a:alpha val="77000"/>
                </a:srgbClr>
              </a:gs>
              <a:gs pos="48000">
                <a:srgbClr val="FFFFFF"/>
              </a:gs>
              <a:gs pos="100000">
                <a:srgbClr val="FFF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72200" y="2160000"/>
            <a:ext cx="3907440" cy="26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Science is what we understand well enough to explain to </a:t>
            </a:r>
            <a:br>
              <a:rPr sz="2800"/>
            </a:b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 computer. Art is everything else. –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Donald Knuth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8" name="TextBox 6"/>
          <p:cNvSpPr/>
          <p:nvPr/>
        </p:nvSpPr>
        <p:spPr>
          <a:xfrm>
            <a:off x="3047040" y="3246840"/>
            <a:ext cx="60937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9" name=""/>
          <p:cNvSpPr/>
          <p:nvPr/>
        </p:nvSpPr>
        <p:spPr>
          <a:xfrm>
            <a:off x="10152000" y="6053040"/>
            <a:ext cx="1547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1CAEAE6D-6BF6-4E26-BB35-449EF0216C91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A1D91FBE-2B56-468F-A449-B3D102CAEDF7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523880" y="719640"/>
            <a:ext cx="9143280" cy="23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R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Хвала на пажњи!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1523880" y="3156480"/>
            <a:ext cx="9143280" cy="254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Припремили: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Павле Шаренац</a:t>
            </a: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2025/3068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1"/>
              </a:rPr>
              <a:t>sp253068m@student.etf.bg.ac.rs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Никола Николић 2025/3109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2"/>
              </a:rPr>
              <a:t>nn253109m@student.etf.bg.ac.rs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10152000" y="6053040"/>
            <a:ext cx="1547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fld id="{6550E89D-A6E0-4760-80C5-ABD54FACAA27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fld id="{51469A71-DDBB-4301-94E3-B42CA03E8F7D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Application>LibreOffice/26.2.3.2$Windows_X86_64 LibreOffice_project/70e089b17412e4cb7773e41413306b17a2328c34</Application>
  <AppVersion>15.0000</AppVersion>
  <Words>398</Words>
  <Paragraphs>79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2026-05-06T19:08:00Z</dcterms:created>
  <dc:creator>Никола Николић</dc:creator>
  <dc:description/>
  <dc:language>sr-Latn-RS</dc:language>
  <cp:lastModifiedBy/>
  <dcterms:modified xsi:type="dcterms:W3CDTF">2026-05-17T19:01:32Z</dcterms:modified>
  <cp:revision>43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