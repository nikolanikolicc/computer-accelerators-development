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media/image5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F172EA-C58D-468C-AB0A-3B47E97E11D7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2F69AD-BDC1-49BB-A5C4-BD73159E4663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CA5DD3C-1938-433C-8FCE-27BAD57C069A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sr-Latn-R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E4DE81-13BA-428F-B192-05BFF157828F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mailto:sp253068m@student.etf.bg.ac.rs" TargetMode="External"/><Relationship Id="rId2" Type="http://schemas.openxmlformats.org/officeDocument/2006/relationships/hyperlink" Target="mailto:nn253109m@student.etf.bg.ac.rs" TargetMode="External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/>
          <p:nvPr/>
        </p:nvSpPr>
        <p:spPr>
          <a:xfrm>
            <a:off x="743760" y="407520"/>
            <a:ext cx="8926920" cy="19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fontScale="85000" lnSpcReduction="9999"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65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Множење матрица – Парадигма дистрибуираног рачунања,  технологија сензорских мрежа</a:t>
            </a:r>
            <a:endParaRPr lang="sr-Latn-RS" sz="4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/>
          <p:nvPr/>
        </p:nvSpPr>
        <p:spPr>
          <a:xfrm>
            <a:off x="892800" y="3720600"/>
            <a:ext cx="8182800" cy="13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Електротехнички факултет, Универзитет у Београду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br>
              <a:rPr sz="2000"/>
            </a:b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Picture 2"/>
          <p:cNvPicPr/>
          <p:nvPr/>
        </p:nvPicPr>
        <p:blipFill>
          <a:blip r:embed="rId1"/>
          <a:stretch/>
        </p:blipFill>
        <p:spPr>
          <a:xfrm>
            <a:off x="4464360" y="2381400"/>
            <a:ext cx="1177200" cy="144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Rectangle 2"/>
          <p:cNvSpPr/>
          <p:nvPr/>
        </p:nvSpPr>
        <p:spPr>
          <a:xfrm>
            <a:off x="8280000" y="5004720"/>
            <a:ext cx="72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38044528-0242-4B00-880C-151B24ED073B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32E7FCD9-8972-4FD7-9BB8-1E439A0DEBF2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34560" y="16200"/>
            <a:ext cx="1007388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Rectangle 4"/>
          <p:cNvSpPr/>
          <p:nvPr/>
        </p:nvSpPr>
        <p:spPr>
          <a:xfrm>
            <a:off x="4830120" y="494460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AFFD6146-AF43-40B8-AA22-F7AD1C42BEF8}" type="slidenum"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1</a:t>
            </a:fld>
            <a:r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/</a:t>
            </a:r>
            <a:fld id="{7AEBCBA9-3FC2-4664-AB16-F334ADB3DDC8}" type="slidecount"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Шта је WSN?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504000" y="1180440"/>
            <a:ext cx="9071280" cy="385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WSN – скуп географски распоређених сензорских чворова: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Чворови комуницирају бежично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Сваки чвор има: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MCU (ARM Cortex-M/ESP32), Радио модул, Батерију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Протоколи: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MQTT – најчешћи, Zigbee, LoRa, WiFi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Ограничења: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CPU ~ 16-256 MHz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RAM 2-512 KB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~10 mW активан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5"/>
          <p:cNvSpPr/>
          <p:nvPr/>
        </p:nvSpPr>
        <p:spPr>
          <a:xfrm>
            <a:off x="8280360" y="5005080"/>
            <a:ext cx="72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C4D607CD-F6AA-4F3A-9DE7-DB38758068E8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60D56042-709A-472E-94C9-91D9293011FA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/>
          <p:cNvPicPr/>
          <p:nvPr/>
        </p:nvPicPr>
        <p:blipFill>
          <a:blip r:embed="rId1"/>
          <a:stretch/>
        </p:blipFill>
        <p:spPr>
          <a:xfrm>
            <a:off x="34560" y="16200"/>
            <a:ext cx="1007388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Rectangle 6"/>
          <p:cNvSpPr/>
          <p:nvPr/>
        </p:nvSpPr>
        <p:spPr>
          <a:xfrm>
            <a:off x="4830120" y="494496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E508ED36-D162-473B-AF4F-FCF08F0D22D8}" type="slidenum"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1</a:t>
            </a:fld>
            <a:r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Microsoft YaHei"/>
              </a:rPr>
              <a:t>/</a:t>
            </a:r>
            <a:fld id="{09FC6A10-F097-4FF7-A763-66B600A02DF7}" type="slidecount">
              <a:rPr lang="sr-Latn-R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Проблем и мотивација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A(m×k) × B(k×n) → O(m·k·n) операција – скупо за веће димензије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Један чвор не може учитати матрицу &gt; 100х100 у RAM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Решење: подели А по редовима на N чворова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Чвор i рачуна: C_i = A_i × B локално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Master скупља све C_i → реконструише С 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Rectangle 7"/>
          <p:cNvSpPr/>
          <p:nvPr/>
        </p:nvSpPr>
        <p:spPr>
          <a:xfrm>
            <a:off x="8280720" y="5005440"/>
            <a:ext cx="72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6D9919F8-3D5C-4C47-A7FB-B0C559F0E1F0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6CA4D05D-F51E-4A92-B4DC-FFA9776C562D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"/>
          <p:cNvGraphicFramePr/>
          <p:nvPr/>
        </p:nvGraphicFramePr>
        <p:xfrm>
          <a:off x="419040" y="961200"/>
          <a:ext cx="9071280" cy="4125600"/>
        </p:xfrm>
        <a:graphic>
          <a:graphicData uri="http://schemas.openxmlformats.org/drawingml/2006/table">
            <a:tbl>
              <a:tblPr/>
              <a:tblGrid>
                <a:gridCol w="2907360"/>
                <a:gridCol w="2907360"/>
                <a:gridCol w="3256920"/>
              </a:tblGrid>
              <a:tr h="36900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WSN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IoT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9568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Фокус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Чворови међусобно комуницирају и заједно рачунају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Уређаји шаљу податке у cloud који обрађује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28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Комуникација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Node-to-node, multi-hop, mesh routing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Device-to-Cloud једносмерно/бидирекционо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90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Cloud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Опционалан или нема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Централан, обавезан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28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Протокол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Zigbee, LEACH routing, gossip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MQTT/HTTP ка серверу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28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Улога чвора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Активни учесник у рачунању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Пасивни скупљач података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235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Топологија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Peer-to-peer, нема нужно централног чвора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Hub-and-spoke, увек постоји сервер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40000" y="-36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WSN vs IoT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1"/>
          <p:cNvSpPr/>
          <p:nvPr/>
        </p:nvSpPr>
        <p:spPr>
          <a:xfrm>
            <a:off x="8280360" y="500544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C50CDB49-21DE-4E6A-8C62-AFB0C8517066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65C93A7E-C633-401B-86E3-D9A0E9996D51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Azure архитектура система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95000" y="-112680"/>
            <a:ext cx="9152640" cy="515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Rectangle 8"/>
          <p:cNvSpPr/>
          <p:nvPr/>
        </p:nvSpPr>
        <p:spPr>
          <a:xfrm>
            <a:off x="8281080" y="5005800"/>
            <a:ext cx="7221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6B471ABB-CF3E-4C8A-B511-F2564455A09A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754DB4D2-9F41-48E9-9AAE-4ADE1E468A97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Azure архитектура система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180000" y="1326240"/>
            <a:ext cx="953964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Azure IoT Hub – Централни хаб, регистар уређаја, C2D/D2C routing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 Methods – синхрони RPC позиви Cloud → Чвор (timeout 60s)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Azure VM/Container – покреће coordinator логику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Azure Blob Storage – чување улазних/излазних матрица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Rectangle 9"/>
          <p:cNvSpPr/>
          <p:nvPr/>
        </p:nvSpPr>
        <p:spPr>
          <a:xfrm>
            <a:off x="8281080" y="5005800"/>
            <a:ext cx="721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A6CE0DDA-37DB-4B6A-BC14-05C48F6237B1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07DB1EB7-18A0-4DE5-9E4E-AEBC754E76A0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Ток података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504000" y="1243080"/>
            <a:ext cx="9071280" cy="34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Координатор приима улазне матрице А и В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Дели А на N партиција: А0, А1, …, А{N-1}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Паралелно шаље Direct Method ‘multiply‘ payload: {A_i, B, row_start, row_end}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Чвор прима, множи C_i=A_i x B локално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Чвор враћа MethodResponse са C_i и метаподацима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Координатор чека све одговоре (asyncio.gather)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Реконструише: C[row_start:row_end] = C_i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Враћа финалну матрицу C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ectangle 10"/>
          <p:cNvSpPr/>
          <p:nvPr/>
        </p:nvSpPr>
        <p:spPr>
          <a:xfrm>
            <a:off x="8281080" y="5006160"/>
            <a:ext cx="722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20308A21-5030-4AA0-AAB9-CDEC9094C78E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619B36B8-FA1C-4F38-93EE-20899456C2A1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/>
          <p:cNvPicPr/>
          <p:nvPr/>
        </p:nvPicPr>
        <p:blipFill>
          <a:blip r:embed="rId1"/>
          <a:stretch/>
        </p:blipFill>
        <p:spPr>
          <a:xfrm>
            <a:off x="180000" y="180000"/>
            <a:ext cx="6696000" cy="535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"/>
          <p:cNvSpPr/>
          <p:nvPr/>
        </p:nvSpPr>
        <p:spPr>
          <a:xfrm>
            <a:off x="7200000" y="180000"/>
            <a:ext cx="251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Координатор – код, кључни делови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11"/>
          <p:cNvSpPr/>
          <p:nvPr/>
        </p:nvSpPr>
        <p:spPr>
          <a:xfrm>
            <a:off x="8281080" y="500616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231AEDAD-1FC3-4755-971A-01DECD292EBB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FCA67276-2973-4228-A3A3-A0CFA37EE9D4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/>
          <p:cNvPicPr/>
          <p:nvPr/>
        </p:nvPicPr>
        <p:blipFill>
          <a:blip r:embed="rId1"/>
          <a:stretch/>
        </p:blipFill>
        <p:spPr>
          <a:xfrm>
            <a:off x="560520" y="712800"/>
            <a:ext cx="6639120" cy="42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7560000" y="720000"/>
            <a:ext cx="197964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Радник - код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Rectangle 12"/>
          <p:cNvSpPr/>
          <p:nvPr/>
        </p:nvSpPr>
        <p:spPr>
          <a:xfrm>
            <a:off x="8281080" y="5006160"/>
            <a:ext cx="863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8CEA2AD2-6677-449D-A195-5199C18AE4EA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579CEB9C-E065-4F58-B505-D5233456E278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Benchmark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5" name=""/>
          <p:cNvGraphicFramePr/>
          <p:nvPr/>
        </p:nvGraphicFramePr>
        <p:xfrm>
          <a:off x="900000" y="1656720"/>
          <a:ext cx="8640000" cy="1969200"/>
        </p:xfrm>
        <a:graphic>
          <a:graphicData uri="http://schemas.openxmlformats.org/drawingml/2006/table">
            <a:tbl>
              <a:tblPr/>
              <a:tblGrid>
                <a:gridCol w="2158920"/>
                <a:gridCol w="2158920"/>
                <a:gridCol w="2158920"/>
                <a:gridCol w="216324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димензије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секвенцијално(ms)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дистрибуирано(ms)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убрзање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50х50 х 50х50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0.69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16.85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0.04x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100х100 х 100х100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0.03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19.53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0.00x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200х200 х 200х200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3.88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19.8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0.2x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50х50 х 50х50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2.19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20.02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0.11x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"/>
          <p:cNvSpPr txBox="1"/>
          <p:nvPr/>
        </p:nvSpPr>
        <p:spPr>
          <a:xfrm>
            <a:off x="900000" y="3960000"/>
            <a:ext cx="86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Overhead ~15ms/чвор доминира за мале матрице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ectangle 13"/>
          <p:cNvSpPr/>
          <p:nvPr/>
        </p:nvSpPr>
        <p:spPr>
          <a:xfrm>
            <a:off x="8281080" y="500616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2B9FCCFA-F266-48A1-9557-2D9933BF5A62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40C5EB64-5BA1-4224-8229-F10ABFEE0C58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Аzure IoT Hub Setup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17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Azure портал → Create IoT Hub (Free Tier)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Iot devices → Add device → Device ID: wsn-node-01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Копирај Primary Connection String за сваки чвор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 чвору: pip install azure-iot-device, унеси connection string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Coordinator: pip install azure-iot-hub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60000" y="3060000"/>
            <a:ext cx="10800000" cy="19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 = IoTHubRegistryManager.from_connection_string(CONN_STR) 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sr-Latn-R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reg.create_device_with_sas(device_id="wsn-node-01", primary_key=None, status="enabled") </a:t>
            </a: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14"/>
          <p:cNvSpPr/>
          <p:nvPr/>
        </p:nvSpPr>
        <p:spPr>
          <a:xfrm>
            <a:off x="8281080" y="500616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95844957-83D3-41BF-8209-27A1E242C1C4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717DC9FB-4351-4312-B91C-2109C57DF615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540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Изазови и ограничења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3" name=""/>
          <p:cNvGraphicFramePr/>
          <p:nvPr/>
        </p:nvGraphicFramePr>
        <p:xfrm>
          <a:off x="517320" y="2239200"/>
          <a:ext cx="9179640" cy="2445120"/>
        </p:xfrm>
        <a:graphic>
          <a:graphicData uri="http://schemas.openxmlformats.org/drawingml/2006/table">
            <a:tbl>
              <a:tblPr/>
              <a:tblGrid>
                <a:gridCol w="3059280"/>
                <a:gridCol w="3059280"/>
                <a:gridCol w="306108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Изазов</a:t>
                      </a:r>
                      <a:endParaRPr lang="sr-Latn-R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Проблем</a:t>
                      </a:r>
                      <a:endParaRPr lang="sr-Latn-R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sr-Latn-R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Решење</a:t>
                      </a:r>
                      <a:endParaRPr lang="sr-Latn-R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Латенција мреже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~50-200ms MQTT round-trip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Batch задаци, async gather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Меморија чвора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Max ~512KB RAM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Timeout + coded computation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Поузданост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Губитак пакета у WSN 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MQTT QoS 1, retry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Overhead порука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JSON серијализација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sr-Latn-R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MessagePack /  бинарни формат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4" name="Rectangle 15"/>
          <p:cNvSpPr/>
          <p:nvPr/>
        </p:nvSpPr>
        <p:spPr>
          <a:xfrm>
            <a:off x="8281080" y="500616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C47C10C4-A1FB-4337-B28A-8BD6AA683DBE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9E6BF4D1-2277-4FE3-BC99-7D8F07046EB2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r>
              <a:rPr lang="sr-Latn-R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Закључак</a:t>
            </a:r>
            <a:endParaRPr lang="sr-Latn-R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WSN + Azure IoT Hub = функционалан дистрибуирани matmul на edge чворовима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Убрзање је реално тек за велике матрице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Kључни overhead: JSON серијализација + MQTT латенција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Даљи правци: Coded Distributed Computing, MPI-over-MQTT</a:t>
            </a:r>
            <a:endParaRPr lang="sr-Latn-R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16"/>
          <p:cNvSpPr/>
          <p:nvPr/>
        </p:nvSpPr>
        <p:spPr>
          <a:xfrm>
            <a:off x="8281080" y="5006160"/>
            <a:ext cx="875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B4E1B838-21A5-4896-ABBA-CCFC8A98C988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28CE9C37-137A-41F3-99B4-77B6A0579BC1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3"/>
          <p:cNvSpPr/>
          <p:nvPr/>
        </p:nvSpPr>
        <p:spPr>
          <a:xfrm>
            <a:off x="1259640" y="594360"/>
            <a:ext cx="7558560" cy="19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Хвала на пажњи!</a:t>
            </a:r>
            <a:endParaRPr lang="sr-Latn-R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/>
          <p:nvPr/>
        </p:nvSpPr>
        <p:spPr>
          <a:xfrm>
            <a:off x="1259640" y="2351520"/>
            <a:ext cx="7558560" cy="26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sp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Припремили: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Павле Шаренац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2025/3068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1"/>
              </a:rPr>
              <a:t>sp253068m@student.etf.bg.ac.rs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Никола Николић 2025/3109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2"/>
              </a:rPr>
              <a:t>nn253109m@student.etf.bg.ac.rs</a:t>
            </a:r>
            <a:endParaRPr lang="sr-Latn-R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3"/>
          <p:cNvSpPr/>
          <p:nvPr/>
        </p:nvSpPr>
        <p:spPr>
          <a:xfrm>
            <a:off x="8280000" y="5005080"/>
            <a:ext cx="8748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fld id="{65B8FAD1-744A-4F65-BCDE-8D0E99BB2AFC}" type="slidenum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&lt;number&gt;</a:t>
            </a:fld>
            <a:r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/</a:t>
            </a:r>
            <a:fld id="{EA927FDC-C165-48B6-80C7-DC4E92F74DF1}" type="slidecount">
              <a:rPr lang="sr-Latn-R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16</a:t>
            </a:fld>
            <a:endParaRPr lang="sr-Latn-R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2026-05-26T23:02:46Z</dcterms:created>
  <dc:creator/>
  <dc:description/>
  <dc:language>sr-Latn-RS</dc:language>
  <cp:lastModifiedBy/>
  <cp:lastPrinted>2026-05-27T22:53:26Z</cp:lastPrinted>
  <dcterms:modified xsi:type="dcterms:W3CDTF">2026-05-27T22:54:00Z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