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2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sr-Latn-R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sr-Latn-R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767FF0F-9523-4B3F-AA86-220F36E6D60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sr-Latn-R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sr-Latn-R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spcBef>
                <a:spcPts val="1417"/>
              </a:spcBef>
              <a:buNone/>
            </a:pPr>
            <a:endParaRPr lang="sr-Latn-R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DD9AF6E-8F6D-4B6F-BCA6-A1457D98E61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sr-Latn-R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sr-Latn-R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9C702C2-293B-4761-A8F0-B0A2D0C857A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sr-Latn-R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7E10CE9-BC0C-4FA5-A196-542F240B917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sr-Latn-R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sr-Latn-R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sr-Latn-R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sr-Latn-R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sr-Latn-R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sr-Latn-R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sr-Latn-R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sr-Latn-R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sr-Latn-R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sr-Latn-R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sr-Latn-R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sr-Latn-R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sr-Latn-R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sr-Latn-R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sr-Latn-R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sr-Latn-R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sr-Latn-R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sr-Latn-R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sr-Latn-R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sr-Latn-R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sr-Latn-R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sr-Latn-R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sr-Latn-R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sr-Latn-R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sr-Latn-R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8BF8083D-FE81-436A-958B-9AC735C94F91}" type="slidenum">
              <a:rPr lang="sr-Latn-R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sr-Latn-R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ftr" idx="4"/>
          </p:nvPr>
        </p:nvSpPr>
        <p:spPr>
          <a:xfrm>
            <a:off x="3446640" y="5163840"/>
            <a:ext cx="319176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sr-Latn-R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sr-Latn-R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sr-Latn-R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5"/>
          </p:nvPr>
        </p:nvSpPr>
        <p:spPr>
          <a:xfrm>
            <a:off x="7225920" y="5163840"/>
            <a:ext cx="234576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sr-Latn-R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461A3F7-A398-46CB-A1A8-17BDD1025FF0}" type="slidenum">
              <a:rPr lang="sr-Latn-R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sr-Latn-R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6"/>
          </p:nvPr>
        </p:nvSpPr>
        <p:spPr>
          <a:xfrm>
            <a:off x="503280" y="5163840"/>
            <a:ext cx="2345760" cy="388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sr-Latn-R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sr-Latn-R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sr-Latn-R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sr-Latn-R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sr-Latn-R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sr-Latn-R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sr-Latn-R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sr-Latn-R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sr-Latn-R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sr-Latn-R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sr-Latn-R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sr-Latn-R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sr-Latn-R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sr-Latn-R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sr-Latn-R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sr-Latn-R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sr-Latn-R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sr-Latn-R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sr-Latn-R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sr-Latn-R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hyperlink" Target="mailto:sp253068m@student.etf.bg.ac.rs" TargetMode="External"/><Relationship Id="rId2" Type="http://schemas.openxmlformats.org/officeDocument/2006/relationships/hyperlink" Target="mailto:nn253109m@student.etf.bg.ac.rs" TargetMode="External"/><Relationship Id="rId3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/>
          <p:nvPr/>
        </p:nvSpPr>
        <p:spPr>
          <a:xfrm>
            <a:off x="743040" y="406800"/>
            <a:ext cx="8923320" cy="196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b">
            <a:normAutofit lnSpcReduction="9999"/>
          </a:bodyPr>
          <a:p>
            <a:pPr algn="ctr" defTabSz="914400">
              <a:lnSpc>
                <a:spcPct val="90000"/>
              </a:lnSpc>
              <a:tabLst>
                <a:tab pos="0" algn="l"/>
              </a:tabLst>
            </a:pPr>
            <a:r>
              <a:rPr lang="en-US" sz="4650" b="0" u="none" strike="noStrike">
                <a:solidFill>
                  <a:schemeClr val="dk1"/>
                </a:solidFill>
                <a:effectLst/>
                <a:uFillTx/>
                <a:latin typeface="Aptos Display"/>
                <a:ea typeface="DejaVu Sans"/>
              </a:rPr>
              <a:t>Множење матрица – Kомпјутер базиран на хемијским процесима</a:t>
            </a:r>
            <a:endParaRPr lang="sr-Latn-RS" sz="4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/>
          <p:nvPr/>
        </p:nvSpPr>
        <p:spPr>
          <a:xfrm>
            <a:off x="892080" y="3719160"/>
            <a:ext cx="8179200" cy="13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457200" algn="ctr" defTabSz="91440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sr-Latn-R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algn="ctr" defTabSz="91440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Microsoft YaHei"/>
              </a:rPr>
              <a:t>Електротехнички факултет, Универзитет у Београду</a:t>
            </a: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  <a:ea typeface="Microsoft YaHei"/>
              </a:rPr>
              <a:t> </a:t>
            </a:r>
            <a:endParaRPr lang="sr-Latn-R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algn="r" defTabSz="91440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br>
              <a:rPr sz="2000"/>
            </a:br>
            <a:endParaRPr lang="sr-Latn-R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Picture 2"/>
          <p:cNvPicPr/>
          <p:nvPr/>
        </p:nvPicPr>
        <p:blipFill>
          <a:blip r:embed="rId1"/>
          <a:stretch/>
        </p:blipFill>
        <p:spPr>
          <a:xfrm>
            <a:off x="4463640" y="2380680"/>
            <a:ext cx="1175040" cy="1444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Rectangle 2"/>
          <p:cNvSpPr/>
          <p:nvPr/>
        </p:nvSpPr>
        <p:spPr>
          <a:xfrm>
            <a:off x="8278560" y="5003280"/>
            <a:ext cx="569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fld id="{0A9E809C-3140-478D-B2C1-95D5997EBC2D}" type="slidenum">
              <a:rPr lang="sr-Latn-R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</a:t>
            </a:fld>
            <a:r>
              <a:rPr lang="sr-Latn-R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/</a:t>
            </a:r>
            <a:fld id="{AD774405-ADB6-421F-97E8-71E743A61812}" type="slidecount">
              <a:rPr lang="sr-Latn-R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10</a:t>
            </a:fld>
            <a:endParaRPr lang="sr-Latn-R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sr-Latn-R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Биоилошко vs. хемијско рачунарство</a:t>
            </a:r>
            <a:endParaRPr lang="sr-Latn-R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407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Биолошки компјутер користи:</a:t>
            </a:r>
            <a:endParaRPr lang="sr-Latn-R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ДНК, ћелије, ензиме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Хемијски компјутери се ослањају на:</a:t>
            </a:r>
            <a:endParaRPr lang="sr-Latn-R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Неорганске и једноставне органске молекуле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Користи физичко-хемијске законитости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Термодинамику, дифузију, закон о дејству маса за прорачуне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Предности хемијских компјутера:</a:t>
            </a:r>
            <a:endParaRPr lang="sr-Latn-R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Није потребно одржавање „живота“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Отпорнији су на услове околине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sr-Latn-R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Закон дејства маса као основа рачунања</a:t>
            </a:r>
            <a:endParaRPr lang="sr-Latn-R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4433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Закон дејства маса</a:t>
            </a:r>
            <a:endParaRPr lang="sr-Latn-R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Брзина реакције сразмерна је производу концентрација реактаната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 једноставну реакцију типа А+В→производ, пише се r=k[A][B]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р-брзина реакције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[A][B]-концентрације супстанци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к-константа за брзину реакције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Идеја је:</a:t>
            </a:r>
            <a:endParaRPr lang="sr-Latn-R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Ако има више молекула оба реагенса, већа је шанса да се „сретну“ и реагују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Зато реакција иде брже, зато се појављује множење концентрација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sr-Latn-R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Закон дејства маса као основа рачунања</a:t>
            </a:r>
            <a:endParaRPr lang="sr-Latn-R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Улазни вектор х кодује се кроз:</a:t>
            </a:r>
            <a:endParaRPr lang="sr-Latn-R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Почетне концентрације одређених реактаната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То нпр. могу бити киселине или соли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Сабирање се остварује суперпозицијом</a:t>
            </a:r>
            <a:endParaRPr lang="sr-Latn-R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Физичко мешање два раствора сабира њихове концентрације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Множење природно произилази из ЗДМ</a:t>
            </a:r>
            <a:endParaRPr lang="sr-Latn-R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Константа к у том контексту игра улогу тежинског фактора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sr-Latn-R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Реакционо-дифузни компјутери</a:t>
            </a:r>
            <a:endParaRPr lang="sr-Latn-R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Просторни паралелизам се постиже:</a:t>
            </a:r>
            <a:endParaRPr lang="sr-Latn-R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У 2D мрежи где хемикалије локално реагују са суседима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Хемикалије дифундују у суседне ћелије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Дифузија је расподела из високе концентрације у околину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Дифузија личи на операцију са Лапласовом матрицом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Свака ћелија мења стање у зависности од суседа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Брзина преливања може да се контролише вискозношћу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sr-Latn-R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Дифузија</a:t>
            </a:r>
            <a:endParaRPr lang="sr-Latn-R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" name=""/>
          <p:cNvPicPr/>
          <p:nvPr/>
        </p:nvPicPr>
        <p:blipFill>
          <a:blip r:embed="rId1"/>
          <a:stretch/>
        </p:blipFill>
        <p:spPr>
          <a:xfrm>
            <a:off x="360" y="1440000"/>
            <a:ext cx="10079640" cy="33595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sr-Latn-R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Белоусов-Жаботински реакција</a:t>
            </a:r>
            <a:endParaRPr lang="sr-Latn-R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Користи се као „живи“ хемијски рачунар</a:t>
            </a:r>
            <a:endParaRPr lang="sr-Latn-R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Концентрација одређених супстанци периодично се мења</a:t>
            </a:r>
            <a:endParaRPr lang="sr-Latn-R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Раствор периодично мења боју </a:t>
            </a:r>
            <a:endParaRPr lang="sr-Latn-R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Нпр. Розе → плаво →розе </a:t>
            </a: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→ плаво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Информације се могу кодирати</a:t>
            </a:r>
            <a:endParaRPr lang="sr-Latn-R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Нема таласа = 0, присуство таласа = 1, фаза таласа = код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Интерференција таласа = рачунање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sr-Latn-R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Белоусов-Жаботински реакција</a:t>
            </a:r>
            <a:endParaRPr lang="sr-Latn-R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БЖ реакција је нелинеарна хемијска реакција</a:t>
            </a:r>
            <a:endParaRPr lang="sr-Latn-R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Она ствара временске осцилације и просторне шаблоне</a:t>
            </a:r>
            <a:endParaRPr lang="sr-Latn-R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Хемијски таласи се понашају као сигнали</a:t>
            </a:r>
            <a:endParaRPr lang="sr-Latn-R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Могу да интерагују, сабирају се или поништавају један други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Коришћењем катализатора осетљивог на светлост:</a:t>
            </a:r>
            <a:endParaRPr lang="sr-Latn-R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БЖ реакција може примати улазне 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sr-Latn-R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Подаци се примају путем оптичке пројекције на хемијски раствор</a:t>
            </a:r>
            <a:endParaRPr lang="sr-Latn-R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r>
              <a:rPr lang="sr-Latn-R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Reservoir computing</a:t>
            </a:r>
            <a:endParaRPr lang="sr-Latn-R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/>
          </p:nvPr>
        </p:nvSpPr>
        <p:spPr>
          <a:xfrm>
            <a:off x="360000" y="1326600"/>
            <a:ext cx="954000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sr-Latn-RS" sz="23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БЖ раствор игра улогурезервоара нелинеарних трансформација</a:t>
            </a:r>
            <a:endParaRPr lang="sr-Latn-RS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3"/>
          <p:cNvSpPr/>
          <p:nvPr/>
        </p:nvSpPr>
        <p:spPr>
          <a:xfrm>
            <a:off x="1258920" y="1168920"/>
            <a:ext cx="7555680" cy="822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spAutoFit/>
          </a:bodyPr>
          <a:p>
            <a:pPr algn="ctr" defTabSz="914400">
              <a:lnSpc>
                <a:spcPct val="90000"/>
              </a:lnSpc>
              <a:tabLst>
                <a:tab pos="0" algn="l"/>
              </a:tabLst>
            </a:pPr>
            <a:r>
              <a:rPr lang="sr-Latn-RS" sz="6000" b="0" u="none" strike="noStrike">
                <a:solidFill>
                  <a:schemeClr val="dk1"/>
                </a:solidFill>
                <a:effectLst/>
                <a:uFillTx/>
                <a:latin typeface="Aptos Display"/>
                <a:ea typeface="DejaVu Sans"/>
              </a:rPr>
              <a:t>Хвала на пажњи!</a:t>
            </a:r>
            <a:endParaRPr lang="sr-Latn-R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4"/>
          <p:cNvSpPr/>
          <p:nvPr/>
        </p:nvSpPr>
        <p:spPr>
          <a:xfrm>
            <a:off x="1258920" y="2350800"/>
            <a:ext cx="7555680" cy="26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 anchorCtr="1">
            <a:spAutoFit/>
          </a:bodyPr>
          <a:p>
            <a:pPr marL="457200" algn="ctr" defTabSz="91440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Microsoft YaHei"/>
              </a:rPr>
              <a:t>Припремили:</a:t>
            </a:r>
            <a:endParaRPr lang="sr-Latn-R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algn="ctr" defTabSz="91440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endParaRPr lang="sr-Latn-R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algn="ctr" defTabSz="91440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Microsoft YaHei"/>
              </a:rPr>
              <a:t>Павле Шаренац</a:t>
            </a:r>
            <a:r>
              <a:rPr lang="sr-Latn-R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Microsoft YaHei"/>
              </a:rPr>
              <a:t> 2025/3068</a:t>
            </a:r>
            <a:endParaRPr lang="sr-Latn-R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algn="ctr" defTabSz="91440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sr-Latn-R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Microsoft YaHei"/>
                <a:hlinkClick r:id="rId1"/>
              </a:rPr>
              <a:t>sp253068m@student.etf.bg.ac.rs</a:t>
            </a:r>
            <a:endParaRPr lang="sr-Latn-R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algn="ctr" defTabSz="91440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sr-Latn-R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Microsoft YaHei"/>
              </a:rPr>
              <a:t>Никола Николић 2025/3109</a:t>
            </a:r>
            <a:endParaRPr lang="sr-Latn-R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algn="ctr" defTabSz="914400">
              <a:lnSpc>
                <a:spcPct val="90000"/>
              </a:lnSpc>
              <a:spcBef>
                <a:spcPts val="499"/>
              </a:spcBef>
              <a:tabLst>
                <a:tab pos="0" algn="l"/>
              </a:tabLst>
            </a:pPr>
            <a:r>
              <a:rPr lang="sr-Latn-R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Microsoft YaHei"/>
                <a:hlinkClick r:id="rId2"/>
              </a:rPr>
              <a:t>nn253109m@student.etf.bg.ac.rs</a:t>
            </a:r>
            <a:endParaRPr lang="sr-Latn-R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Rectangle 3"/>
          <p:cNvSpPr/>
          <p:nvPr/>
        </p:nvSpPr>
        <p:spPr>
          <a:xfrm>
            <a:off x="8278560" y="5003640"/>
            <a:ext cx="56988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fld id="{B02672B1-29C8-4AC6-9141-0AC531EA575C}" type="slidenum">
              <a:rPr lang="sr-Latn-R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&lt;number&gt;</a:t>
            </a:fld>
            <a:r>
              <a:rPr lang="sr-Latn-R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/</a:t>
            </a:r>
            <a:fld id="{259C8779-AD4C-40B6-BC76-0066C3C545E3}" type="slidecount">
              <a:rPr lang="sr-Latn-RS" sz="24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DejaVu Sans"/>
              </a:rPr>
              <a:t>10</a:t>
            </a:fld>
            <a:endParaRPr lang="sr-Latn-R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51</TotalTime>
  <Application>LibreOffice/26.2.3.2$Windows_X86_64 LibreOffice_project/70e089b17412e4cb7773e41413306b17a2328c34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2026-06-17T22:15:33Z</dcterms:created>
  <dc:creator/>
  <dc:description/>
  <dc:language>sr-Latn-RS</dc:language>
  <cp:lastModifiedBy/>
  <dcterms:modified xsi:type="dcterms:W3CDTF">2026-06-17T23:47:58Z</dcterms:modified>
  <cp:revision>7</cp:revision>
  <dc:subject/>
  <dc:title/>
</cp:coreProperties>
</file>