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EBA5EC-3D7C-4435-8094-35956F4D76E1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970D491-0175-4D1A-B744-9EE1A968A166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563DF7-8314-41FD-89D5-1F26ECB284FB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88CA0C-F9A8-4025-8729-3A5D6980FDE2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3C6827E-5D42-4C5F-ADEE-25FEBC22B5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sr-Latn-R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3446640" y="5163840"/>
            <a:ext cx="3191400" cy="38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4"/>
          </p:nvPr>
        </p:nvSpPr>
        <p:spPr>
          <a:xfrm>
            <a:off x="7225920" y="516384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BC6248-4A91-49FF-9887-721DE0730EB3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5"/>
          </p:nvPr>
        </p:nvSpPr>
        <p:spPr>
          <a:xfrm>
            <a:off x="503280" y="516384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mailto:sp253068m@student.etf.bg.ac.rs" TargetMode="External"/><Relationship Id="rId2" Type="http://schemas.openxmlformats.org/officeDocument/2006/relationships/hyperlink" Target="mailto:nn253109m@student.etf.bg.ac.rs" TargetMode="External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/>
          <p:nvPr/>
        </p:nvSpPr>
        <p:spPr>
          <a:xfrm>
            <a:off x="743040" y="406800"/>
            <a:ext cx="8922960" cy="19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65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DejaVu Sans"/>
              </a:rPr>
              <a:t>Множење матрица – Kомпјутер базиран на хемијским процесима</a:t>
            </a:r>
            <a:endParaRPr lang="sr-Latn-RS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/>
          <p:nvPr/>
        </p:nvSpPr>
        <p:spPr>
          <a:xfrm>
            <a:off x="892080" y="3719160"/>
            <a:ext cx="8178840" cy="13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2"/>
          <p:cNvPicPr/>
          <p:nvPr/>
        </p:nvPicPr>
        <p:blipFill>
          <a:blip r:embed="rId1"/>
          <a:stretch/>
        </p:blipFill>
        <p:spPr>
          <a:xfrm>
            <a:off x="4463640" y="2380680"/>
            <a:ext cx="1174680" cy="14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Rectangle 2"/>
          <p:cNvSpPr/>
          <p:nvPr/>
        </p:nvSpPr>
        <p:spPr>
          <a:xfrm>
            <a:off x="8278560" y="5003280"/>
            <a:ext cx="72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4846B208-FF22-408C-B929-1A55D9822E0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B87F4F79-41EE-4842-AFF9-457EE446CB3B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Биоилошко vs. хемијско рачунарство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40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Биолошки компјутер користи: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ДНК, ћелије, ензиме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Хемијски компјутери се ослањају на: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Неорганске и једноставне органске молекуле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Користи физичко-хемијске законитости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Термодинамику, дифузију, закон о дејству маса за прорачуне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Предности хемијских компјутера: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Није потребно одржавање „живота“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Отпорнији су на услове околине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1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484D5D8A-567A-4DC4-A6F1-B851C54E6E8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71B45E76-839B-432B-A003-7A3C3B7DA95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Закон дејства маса као основа рачунања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443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Закон дејства маса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Брзина реакције сразмерна је производу концентрација реактаната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 једноставну реакцију типа А+В→производ, пише се r=k[A][B]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р-брзина реакције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[A][B]-концентрације супстанци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к-константа за брзину реакције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Идеја је: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Ако има више молекула оба реагенса, већа је шанса да се „сретну“ и реагују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Зато реакција иде брже, зато се појављује множење концентрација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4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DDA9CB43-8265-4256-A5AF-9FBCBF1E788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BE1ABF7-F4CD-43DA-807C-E6A1A4BE0BE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Закон дејства маса као основа рачунања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Улазни вектор х кодује се кроз: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Почетне концентрације одређених реактаната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То нпр. могу бити киселине или соли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Сабирање се остварује суперпозицијом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Физичко мешање два раствора сабира њихове концентрације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Множење природно произилази из ЗДМ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Константа к у том контексту игра улогу тежинског фактора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5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5863B5DB-DFAA-4ED2-8571-E3F96457843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1DC01E2C-9AAF-4484-B8AB-328015AA5E8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Реакционо-дифузни компјутери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Просторни паралелизам се постиже: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 2D мрежи где хемикалије локално реагују са суседима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Хемикалије дифундују у суседне ћелије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Дифузија је расподела из високе концентрације у околину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Дифузија личи на операцију са Лапласовом матрицом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Свака ћелија мења стање у зависности од суседа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Брзина преливања може да се контролише вискозношћу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6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9D151F4E-9466-42F6-8384-6CB36B64A8D3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B447128C-4B23-4067-A8BA-A6F375F610E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Дифузија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360" y="1440000"/>
            <a:ext cx="10079280" cy="33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Rectangle 7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0443C283-CF73-493B-A894-67F400878FC9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CF52C4F9-C38E-42EC-8058-BB2B3776EDCB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Белоусов-Жаботински реакција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8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Користи се као „живи“ хемијски рачунар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Концентрација одређених супстанци периодично се мења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Раствор периодично мења боју 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Нпр. Розе → плаво →розе → плаво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Информације се могу кодирати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Нема таласа = 0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Присуство таласа = 1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Фаза таласа = код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Интерференција таласа = рачунање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6120000" y="2700000"/>
            <a:ext cx="317880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8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8F85E092-D71D-4FB8-B3C9-14DE54BA253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35D20B9C-34E1-4C35-B448-834B0EF3D6A5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Белоусов-Жаботински реакција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БЖ реакција је нелинеарна хемијска реакција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Она ствара временске осцилације и просторне шаблоне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Хемијски таласи се понашају као сигнали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Могу да интерагују, сабирају се или поништавају један други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Коришћењем катализатора осетљивог на светлост: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БЖ реакција може примати улазне податке матрице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Подаци се примају путем оптичке пројекције на хемијски раствор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9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FF474DA5-4A14-431E-8888-4271B35F111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1BDDEDD3-2A66-4523-83C8-8CBBD2A3E0A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Логичка кола и микрофлуидика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80000" y="1326600"/>
            <a:ext cx="9719640" cy="38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Молекуларна кола могу обављати И, ИЛИ и НЕ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Ово се ради брзим каскадним хемијским реакцијама (БЖ реакција)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Физичка реаелизација: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Састоји се од микрофлуидних чипова 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Течности се крећу кроз микроскопске канале који симулирају арх. Рачунара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Ако постоје две супстанце → 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Довољна је било која од две 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ИЛИ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Једна супстанца гаси сигнал друге 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НЕ 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 овај начин могу се реализовати све познате рачунарске компоненте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10"/>
          <p:cNvSpPr/>
          <p:nvPr/>
        </p:nvSpPr>
        <p:spPr>
          <a:xfrm>
            <a:off x="8278560" y="500364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38256E8A-23D9-4396-B360-0C7E55296C2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C38DBB8D-C6C8-4B2C-827A-509868132EA5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Како представити негативне бројеве?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Хемијске концентрације не могу бити негативне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Решење је Dual rail систем: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Вектори се деле на позитивне и негативне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Позитивни и негативни прорачуни се одвијају у два паралелна хемијска канала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Резултат се на крају одузима електронским сензором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11"/>
          <p:cNvSpPr/>
          <p:nvPr/>
        </p:nvSpPr>
        <p:spPr>
          <a:xfrm>
            <a:off x="8278560" y="500364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33B9309D-4441-4AFF-B1A8-C4311D87093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94B4C7C5-BEA2-431C-B781-96EC057AD3AC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Шта недостаје хамијском чипу?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Брзина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Дифузија и хемијске реакције су спори процеси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Ресетовање система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Отпадни производи реакције се накупљају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Тешко их је вратити у почетно стање без испирања система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Прецизност 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Аналогна природа значи да се подаци губе услед термалног шума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12"/>
          <p:cNvSpPr/>
          <p:nvPr/>
        </p:nvSpPr>
        <p:spPr>
          <a:xfrm>
            <a:off x="8278560" y="5003640"/>
            <a:ext cx="863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1D42EEC4-5A94-49BA-89F4-BFB0A708780B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1F642A27-1853-4704-9C4D-E52CD6547D3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889560" y="15840"/>
            <a:ext cx="8363880" cy="567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14"/>
          <p:cNvSpPr/>
          <p:nvPr/>
        </p:nvSpPr>
        <p:spPr>
          <a:xfrm>
            <a:off x="9205560" y="504000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57E0E572-D15C-4CAF-A056-D182FF07AB5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9649FEC-8F87-4C96-8538-2D250CD9BC9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 txBox="1"/>
          <p:nvPr/>
        </p:nvSpPr>
        <p:spPr>
          <a:xfrm>
            <a:off x="540000" y="2315880"/>
            <a:ext cx="9360000" cy="246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sr-Latn-R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„Imagination is more important than knowledge.” </a:t>
            </a:r>
            <a:r>
              <a:rPr lang="sr-Latn-R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sr-Latn-R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 Albert Einstein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13"/>
          <p:cNvSpPr/>
          <p:nvPr/>
        </p:nvSpPr>
        <p:spPr>
          <a:xfrm>
            <a:off x="8278560" y="500364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7F721059-E2EC-40D0-9096-41FDE9DB014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F9BA33A6-8BD2-48BA-A7DE-31AFCBB2B25C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3"/>
          <p:cNvSpPr/>
          <p:nvPr/>
        </p:nvSpPr>
        <p:spPr>
          <a:xfrm>
            <a:off x="1258920" y="1168920"/>
            <a:ext cx="755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DejaVu Sans"/>
              </a:rPr>
              <a:t>Хвала на пажњи!</a:t>
            </a:r>
            <a:endParaRPr lang="sr-Latn-R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/>
          <p:nvPr/>
        </p:nvSpPr>
        <p:spPr>
          <a:xfrm>
            <a:off x="1258920" y="2350800"/>
            <a:ext cx="7555320" cy="26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1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8278560" y="5003640"/>
            <a:ext cx="874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85A3C42F-CB80-451D-8CAD-0FCBB6FF201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1755EB7C-3FDA-463F-BF8D-C350EE3F7AC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14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2026-06-17T22:15:33Z</dcterms:created>
  <dc:creator/>
  <dc:description/>
  <dc:language>sr-Latn-RS</dc:language>
  <cp:lastModifiedBy/>
  <dcterms:modified xsi:type="dcterms:W3CDTF">2026-06-18T22:25:36Z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