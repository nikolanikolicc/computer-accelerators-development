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6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05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DE73F3-D718-4C32-B1EC-3B6BF3E3152B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05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AEEF4D2-F4F2-43BE-ABE0-14483E753531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05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548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548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3C07485-720A-4643-A82A-4E8A0199A14B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05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E19334C-D464-4AA2-9F5B-587C63C70040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D67433B-CA6F-4A9F-B21E-8292567FBFDA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6"/>
          </p:nvPr>
        </p:nvSpPr>
        <p:spPr>
          <a:xfrm>
            <a:off x="3447000" y="5164560"/>
            <a:ext cx="319212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7"/>
          </p:nvPr>
        </p:nvSpPr>
        <p:spPr>
          <a:xfrm>
            <a:off x="7226640" y="5164560"/>
            <a:ext cx="234576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84AB87C-4087-4502-838C-9BC52982F5C5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8"/>
          </p:nvPr>
        </p:nvSpPr>
        <p:spPr>
          <a:xfrm>
            <a:off x="503640" y="5164560"/>
            <a:ext cx="234576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05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548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548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19"/>
          </p:nvPr>
        </p:nvSpPr>
        <p:spPr>
          <a:xfrm>
            <a:off x="3447000" y="5164560"/>
            <a:ext cx="319212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0"/>
          </p:nvPr>
        </p:nvSpPr>
        <p:spPr>
          <a:xfrm>
            <a:off x="7226640" y="5164560"/>
            <a:ext cx="234576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A49C25E-84BD-4E23-B061-C4814DA68D5F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21"/>
          </p:nvPr>
        </p:nvSpPr>
        <p:spPr>
          <a:xfrm>
            <a:off x="503640" y="5164560"/>
            <a:ext cx="234576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05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ftr" idx="22"/>
          </p:nvPr>
        </p:nvSpPr>
        <p:spPr>
          <a:xfrm>
            <a:off x="3447000" y="5164560"/>
            <a:ext cx="319212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23"/>
          </p:nvPr>
        </p:nvSpPr>
        <p:spPr>
          <a:xfrm>
            <a:off x="7226640" y="5164560"/>
            <a:ext cx="234576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C2C7676-E239-4D5D-9948-49834C5EC8D8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24"/>
          </p:nvPr>
        </p:nvSpPr>
        <p:spPr>
          <a:xfrm>
            <a:off x="503640" y="5164560"/>
            <a:ext cx="234576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05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5"/>
          </p:nvPr>
        </p:nvSpPr>
        <p:spPr>
          <a:xfrm>
            <a:off x="3447000" y="5164560"/>
            <a:ext cx="319212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6"/>
          </p:nvPr>
        </p:nvSpPr>
        <p:spPr>
          <a:xfrm>
            <a:off x="7226640" y="5164560"/>
            <a:ext cx="234576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98BBCC8-5471-47A2-AC29-0A872F35AEFB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27"/>
          </p:nvPr>
        </p:nvSpPr>
        <p:spPr>
          <a:xfrm>
            <a:off x="503640" y="5164560"/>
            <a:ext cx="234576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mailto:sp253068m@student.etf.bg.ac.rs" TargetMode="External"/><Relationship Id="rId2" Type="http://schemas.openxmlformats.org/officeDocument/2006/relationships/hyperlink" Target="mailto:nn253109m@student.etf.bg.ac.rs" TargetMode="External"/><Relationship Id="rId3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/>
          <p:nvPr/>
        </p:nvSpPr>
        <p:spPr>
          <a:xfrm>
            <a:off x="743400" y="407160"/>
            <a:ext cx="8924040" cy="19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65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DejaVu Sans"/>
              </a:rPr>
              <a:t>Множење матрица – Oптички компјутер</a:t>
            </a:r>
            <a:endParaRPr lang="sr-Latn-RS" sz="4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/>
          <p:nvPr/>
        </p:nvSpPr>
        <p:spPr>
          <a:xfrm>
            <a:off x="892440" y="3719880"/>
            <a:ext cx="8179920" cy="13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Електротехнички факултет, Универзитет у Београду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br>
              <a:rPr sz="2000"/>
            </a:b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Picture 2"/>
          <p:cNvPicPr/>
          <p:nvPr/>
        </p:nvPicPr>
        <p:blipFill>
          <a:blip r:embed="rId1"/>
          <a:stretch/>
        </p:blipFill>
        <p:spPr>
          <a:xfrm>
            <a:off x="4464000" y="2381040"/>
            <a:ext cx="1175040" cy="144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2"/>
          <p:cNvSpPr/>
          <p:nvPr/>
        </p:nvSpPr>
        <p:spPr>
          <a:xfrm>
            <a:off x="8279280" y="5004000"/>
            <a:ext cx="7221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A20B032D-829D-4B8F-8D52-328BB055A79C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4BA93FF9-7126-4BC7-B09D-83D188B09881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Rectangle 14"/>
          <p:cNvSpPr/>
          <p:nvPr/>
        </p:nvSpPr>
        <p:spPr>
          <a:xfrm>
            <a:off x="8279280" y="5004720"/>
            <a:ext cx="72144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B2773243-3CD2-442E-9768-59A70DA6FA38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4A8E7DED-7D1B-4783-BF21-CD15631ECB5E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Rectangle 15"/>
          <p:cNvSpPr/>
          <p:nvPr/>
        </p:nvSpPr>
        <p:spPr>
          <a:xfrm>
            <a:off x="8279280" y="5004720"/>
            <a:ext cx="184284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B1808512-E8DF-4F23-A8B2-DF98DA75F1DB}" type="slidenum">
              <a:rPr lang="sr-Latn-R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D25430A0-1E77-4961-8E49-93A470BEE451}" type="slidecount">
              <a:rPr lang="sr-Latn-R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62520"/>
            <a:ext cx="9070560" cy="67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Зашто је оптика погодна?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/>
          <p:nvPr/>
        </p:nvSpPr>
        <p:spPr>
          <a:xfrm>
            <a:off x="504000" y="1980000"/>
            <a:ext cx="9069120" cy="32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Светлост природно подржава 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Суперпозицију, интерференцију, пропагацију кроз линеарне системе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Множење матрица своди се на: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Пондерисање, сабирање доприноса улазних канала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Зато су векторске операције природан кандидат за фотонско убрзање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ectangle 16"/>
          <p:cNvSpPr/>
          <p:nvPr/>
        </p:nvSpPr>
        <p:spPr>
          <a:xfrm>
            <a:off x="8279280" y="5004720"/>
            <a:ext cx="72144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854EF453-F53D-400A-A5A0-D4B4F8932D23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F23A453F-E68D-4D2A-8D65-7919FA4E0B30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504360" y="363960"/>
            <a:ext cx="907056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Основна идеја рачунања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6"/>
          <p:cNvSpPr/>
          <p:nvPr/>
        </p:nvSpPr>
        <p:spPr>
          <a:xfrm>
            <a:off x="360000" y="1260720"/>
            <a:ext cx="953892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Улазни вектор х: 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Кодује се у амплитуде и фазе оптичких сигнала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Програмабилна оптичка мрежа реализује матрицу тежина W: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Излаз приближно одговара y = Wx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Фотодетектори претварају оптички сигнал у електични сигнал за даљу обраду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"/>
          <p:cNvPicPr/>
          <p:nvPr/>
        </p:nvPicPr>
        <p:blipFill>
          <a:blip r:embed="rId1"/>
          <a:srcRect l="0" t="0" r="0" b="22573"/>
          <a:stretch/>
        </p:blipFill>
        <p:spPr>
          <a:xfrm>
            <a:off x="134640" y="3548160"/>
            <a:ext cx="9584640" cy="185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Rectangle 17"/>
          <p:cNvSpPr/>
          <p:nvPr/>
        </p:nvSpPr>
        <p:spPr>
          <a:xfrm>
            <a:off x="357480" y="5040000"/>
            <a:ext cx="72144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27657DE5-2B51-4D2B-BD69-9AB340A262B6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4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84C6861B-D641-4A9A-9175-F3DC89710403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505080" y="350640"/>
            <a:ext cx="907056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sr-Latn-R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Кодовање матрице у оптички сигнал</a:t>
            </a:r>
            <a:endParaRPr lang="sr-Latn-R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 11"/>
          <p:cNvSpPr/>
          <p:nvPr/>
        </p:nvSpPr>
        <p:spPr>
          <a:xfrm>
            <a:off x="8279640" y="5005080"/>
            <a:ext cx="7218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7DACAE82-4DDE-4D8F-AD9E-1DA314FF230C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4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BE4040FF-91B4-42CD-8A97-041A2620F993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8"/>
          <p:cNvSpPr/>
          <p:nvPr/>
        </p:nvSpPr>
        <p:spPr>
          <a:xfrm>
            <a:off x="180360" y="1080720"/>
            <a:ext cx="953892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Колоне се додељују засебном просторном каналу, таласоводу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Таласовод = жица за светлост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Врсте се пресликавају на засебну таласну дужину </a:t>
            </a: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ʎ (боја)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Елементи се кодују амлитудном модулацијом у временском кораку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Електрични сигнал управља TFLN модулатором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Мења пропусност таласовода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Позитивне и негативне вредности: 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дуални порт модулатора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диференцијална детекција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505080" y="350640"/>
            <a:ext cx="907056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sr-Latn-R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Кодовање матрице у оптички сигнал</a:t>
            </a:r>
            <a:endParaRPr lang="sr-Latn-R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1"/>
          <p:cNvSpPr/>
          <p:nvPr/>
        </p:nvSpPr>
        <p:spPr>
          <a:xfrm>
            <a:off x="8279640" y="5005080"/>
            <a:ext cx="7218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C52B65A5-5306-40BE-B05A-E3015A7EF794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1CA99FE0-F1B7-44ED-A413-731A5508E418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7"/>
          <p:cNvSpPr/>
          <p:nvPr/>
        </p:nvSpPr>
        <p:spPr>
          <a:xfrm>
            <a:off x="180360" y="1080720"/>
            <a:ext cx="953892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WDM – Wavelength Division Multiplexing 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Један ласер емитује више различитих </a:t>
            </a: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ʎ одједном кроз исти таласовод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Свака боја носи информацију о другом реду матрице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TFLN модулатор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Прима електрични напон и на основу тога мења колико светлости пропушта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Висок напон → мало светлости → мала вредност  елемента матрице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Низак напон → пуно светлости  → велика вредност елемента матрице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Зашто дуални порт + диференцијална детекција?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Светлост не може бити негативна, док елементи матрице могу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Позитивне → Port A, негативне → Port B, на крају одузимамо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505440" y="364680"/>
            <a:ext cx="907056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MZI мрежа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9"/>
          <p:cNvSpPr/>
          <p:nvPr/>
        </p:nvSpPr>
        <p:spPr>
          <a:xfrm>
            <a:off x="360720" y="1261800"/>
            <a:ext cx="953892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TFLN модулатор је MZI направљен од литијум ниобата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Mach-Zehnder интерферометар: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Дели сигнал на две гране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Уводи контролисане фазне помераје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Рекомбинује их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Већи број MZI елемената у мрежи: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Омогућава прoграмабилну реализацију сложених линеарних трансформација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Главни изазови: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Калибрација, фазне грешке, ограничена прецизност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8"/>
          <p:cNvSpPr/>
          <p:nvPr/>
        </p:nvSpPr>
        <p:spPr>
          <a:xfrm>
            <a:off x="8279640" y="5004720"/>
            <a:ext cx="72144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FEA620CC-9EA9-47D2-8111-3C03E947E2D9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7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D8343017-2866-4B2B-8170-E0E330500E96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>
            <a:off x="505800" y="365040"/>
            <a:ext cx="907056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Free-space приступ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0"/>
          <p:cNvSpPr/>
          <p:nvPr/>
        </p:nvSpPr>
        <p:spPr>
          <a:xfrm>
            <a:off x="361080" y="1262160"/>
            <a:ext cx="953892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Светлост пролази кроз више дифрактивних слојева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Дифрактивни слојеви обликују таласни фронт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Обрада се ради над целим оптичким пољем одједном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Просторни паралелизам веома велик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Мање флексибилан од интегрисане фотонике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7"/>
          <p:cNvSpPr/>
          <p:nvPr/>
        </p:nvSpPr>
        <p:spPr>
          <a:xfrm>
            <a:off x="8279640" y="5004720"/>
            <a:ext cx="72144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140B1803-675E-48D4-910E-9B92AEBB865E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8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781386FA-86AD-4CA9-A03E-B2607D27D78D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2316600" y="664560"/>
            <a:ext cx="5602320" cy="491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360000" y="180000"/>
            <a:ext cx="935892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Оптички интегрисана неурална мрежа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6"/>
          <p:cNvSpPr/>
          <p:nvPr/>
        </p:nvSpPr>
        <p:spPr>
          <a:xfrm>
            <a:off x="8279640" y="5004720"/>
            <a:ext cx="8733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431F78B4-D389-4871-BC95-29F33AB537EA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8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3E69157A-7761-4DB2-B6C6-25F08B4071EC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505080" y="425160"/>
            <a:ext cx="907056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sr-Latn-R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Реализација + операције</a:t>
            </a:r>
            <a:endParaRPr lang="sr-Latn-R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18"/>
          <p:cNvSpPr/>
          <p:nvPr/>
        </p:nvSpPr>
        <p:spPr>
          <a:xfrm>
            <a:off x="8280000" y="5005080"/>
            <a:ext cx="8737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AD3C6493-2A0D-4899-A4CE-0C975E04831D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8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FD3C7EE1-E0EB-45D5-BF20-7CAFF1668ADA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3"/>
          <p:cNvSpPr/>
          <p:nvPr/>
        </p:nvSpPr>
        <p:spPr>
          <a:xfrm>
            <a:off x="362160" y="1262880"/>
            <a:ext cx="953892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Два дигнала, носиоца вредности а и б, воде у 2х2 MMI спојник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 (улаза) х 2 (излаза) MMI – multimode iterference coupler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Спојник физички спаја талсоводе → конструктивна интерференција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Спојник физички одузима талсоводе → деструктивна интерференција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Укупна енергија очувана – распоређена на два излаза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Интегрисана фотоника – MZI мрежа N сабирања паралелно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Free-space принципијелно аналогна – beam-splitter огледало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505080" y="425160"/>
            <a:ext cx="907056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sr-Latn-R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Реализација * операције</a:t>
            </a:r>
            <a:endParaRPr lang="sr-Latn-R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19"/>
          <p:cNvSpPr/>
          <p:nvPr/>
        </p:nvSpPr>
        <p:spPr>
          <a:xfrm>
            <a:off x="8280000" y="5005080"/>
            <a:ext cx="8744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1B0832B5-0873-4D3E-B030-F71AA976AED0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10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E24A77D9-4484-4372-860F-A65DB6589747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14"/>
          <p:cNvSpPr/>
          <p:nvPr/>
        </p:nvSpPr>
        <p:spPr>
          <a:xfrm>
            <a:off x="362160" y="1262880"/>
            <a:ext cx="953892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Ако приликом дељења светлости са MZI постоји фазни померај </a:t>
            </a: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Ɵ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Интерференција није потпуна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На излазу се добије само фракција T = cos^2 (</a:t>
            </a: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Ɵ/2</a:t>
            </a: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)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Подешавањем напона на једном фазном померачу бира се тежина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Проблем: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Тежина у опсегу [0, 1]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Не постоје негативне вредности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Решење: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= U(поново ротира)</a:t>
            </a: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Σ(скалира сваку осу независно)</a:t>
            </a: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V^T(ротира вектор)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505080" y="425160"/>
            <a:ext cx="907056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sr-Latn-R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Реализација * операције</a:t>
            </a:r>
            <a:endParaRPr lang="sr-Latn-R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4"/>
          <p:cNvSpPr/>
          <p:nvPr/>
        </p:nvSpPr>
        <p:spPr>
          <a:xfrm>
            <a:off x="8280000" y="5005080"/>
            <a:ext cx="8737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00E3610E-EE10-4FF3-A99E-D22A901F786E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29644C33-9B86-442C-881E-1C58995A4192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/>
          <p:nvPr/>
        </p:nvSpPr>
        <p:spPr>
          <a:xfrm>
            <a:off x="362160" y="1262880"/>
            <a:ext cx="953892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NxN матрица ротира у N-димензионалном простору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Број парова оса је N(N – 1)/2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Сваки пар → једна ротација → један MZI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505080" y="425160"/>
            <a:ext cx="907056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sr-Latn-R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Убрзање интегрисане оптике</a:t>
            </a:r>
            <a:endParaRPr lang="sr-Latn-R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20"/>
          <p:cNvSpPr/>
          <p:nvPr/>
        </p:nvSpPr>
        <p:spPr>
          <a:xfrm>
            <a:off x="8280000" y="5005080"/>
            <a:ext cx="8744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E614E622-1656-4452-B953-F2B93ACC753C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12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D91E6577-AFCD-4415-A883-358423883076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15"/>
          <p:cNvSpPr/>
          <p:nvPr/>
        </p:nvSpPr>
        <p:spPr>
          <a:xfrm>
            <a:off x="362160" y="1262880"/>
            <a:ext cx="953892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Lightelligence фотонски чип: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Множење матрице 64х64 у &lt;10 тактова (~5ns)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GPU треба стотине таксова за исту величину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Убзање &gt;800x у односу на графичку картицу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Латенција у оптичком домену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Ограничена временом лета светлости кроз чип – реда &lt; 10ps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Електроници потребно неколико наносекунди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Кључна предност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О(1) временска сложеност за MVM операцију без обзира на N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505080" y="425160"/>
            <a:ext cx="907056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sr-Latn-R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Операције реализоване оптиком</a:t>
            </a:r>
            <a:endParaRPr lang="sr-Latn-R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21"/>
          <p:cNvSpPr/>
          <p:nvPr/>
        </p:nvSpPr>
        <p:spPr>
          <a:xfrm>
            <a:off x="8280000" y="5005080"/>
            <a:ext cx="8737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745C0B32-FAE7-4BB7-A1A3-EA5656E3D5F0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CA403F41-CCD0-465F-840F-A23B0CDADA0D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9" name=""/>
          <p:cNvGraphicFramePr/>
          <p:nvPr/>
        </p:nvGraphicFramePr>
        <p:xfrm>
          <a:off x="516240" y="1794600"/>
          <a:ext cx="8999640" cy="2354400"/>
        </p:xfrm>
        <a:graphic>
          <a:graphicData uri="http://schemas.openxmlformats.org/drawingml/2006/table">
            <a:tbl>
              <a:tblPr/>
              <a:tblGrid>
                <a:gridCol w="4500000"/>
                <a:gridCol w="450000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sr-Latn-R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Операција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sr-Latn-R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Оптичка реализација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Вектор * матрица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MZI мрежа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2D Дискретна Фуријеова трансформација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Дифрактивна мрежа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Сабирање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Суперпозиција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Конволуција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Пропагација кроз линеарни систем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Корелација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Интерференција снопова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505080" y="425160"/>
            <a:ext cx="907056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sr-Latn-R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Шта недостаје оптичком чипу?</a:t>
            </a:r>
            <a:endParaRPr lang="sr-Latn-R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22"/>
          <p:cNvSpPr/>
          <p:nvPr/>
        </p:nvSpPr>
        <p:spPr>
          <a:xfrm>
            <a:off x="8280000" y="5005080"/>
            <a:ext cx="8744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40F5793B-E7E4-41D4-8551-3A6B48A38961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0CFF3565-2C49-4572-A9F8-11366D019090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17"/>
          <p:cNvSpPr/>
          <p:nvPr/>
        </p:nvSpPr>
        <p:spPr>
          <a:xfrm>
            <a:off x="362160" y="1262880"/>
            <a:ext cx="953892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Ограничења оптички интегрисаног чипа: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Меморија – нема RAM, тежине физички урезане у MZI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Гранање и control flow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Нелинеарне операције (ReLU)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Прецизност – аналогна природа ограничава на 4-6 бита ефективне прецизности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Рекалибрација – температура мења фазне карактеристике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Скалирање – велико N → више MZI елемената → брз раст сложености чипа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Последица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У пракси се увек користи хибридни опто-електронски систем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506160" y="365400"/>
            <a:ext cx="907056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Предности и ограничења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11"/>
          <p:cNvSpPr/>
          <p:nvPr/>
        </p:nvSpPr>
        <p:spPr>
          <a:xfrm>
            <a:off x="361440" y="1262520"/>
            <a:ext cx="953892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Предности: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Висока пропусност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Велики паралелизам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Ефикасна реализација линеарне алгебре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Ограничења: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Шум, потреба за калибрацијом, аналогна природа рачунања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Меморија, гранање и нелинеарности углавном остају ван оптичког језгра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У пракси се често користи хибридни опто-електронски систем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5"/>
          <p:cNvSpPr/>
          <p:nvPr/>
        </p:nvSpPr>
        <p:spPr>
          <a:xfrm>
            <a:off x="8279640" y="5004720"/>
            <a:ext cx="8744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4D3FB00B-F851-4BB9-A59B-59D4DF2CAA35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68B543E6-5374-42AE-BE0D-B5FC29BCDD47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3640" y="361800"/>
            <a:ext cx="9069120" cy="67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Закључак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13"/>
          <p:cNvSpPr/>
          <p:nvPr/>
        </p:nvSpPr>
        <p:spPr>
          <a:xfrm>
            <a:off x="8279280" y="5004360"/>
            <a:ext cx="87372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69E745B1-477D-477E-984D-1F57649FA2D8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25B2D356-CBEE-4D03-B8BB-A18D266D0817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12"/>
          <p:cNvSpPr/>
          <p:nvPr/>
        </p:nvSpPr>
        <p:spPr>
          <a:xfrm>
            <a:off x="361440" y="1262880"/>
            <a:ext cx="953892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На оптичком рачунару множење матрица се: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Не извршава секвенцом инструкција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Већ дизајном физичког система који реализује линеарну транформацију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Матрица се пресликава у фотонску структуру: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Улаз се кодује светлошћу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Резултат се добија детекцијом излаза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Примена: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Убрзање линеарних операција у АИ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Обради сигнала, специјализовани акцелератори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"/>
          <p:cNvPicPr/>
          <p:nvPr/>
        </p:nvPicPr>
        <p:blipFill>
          <a:blip r:embed="rId1"/>
          <a:stretch/>
        </p:blipFill>
        <p:spPr>
          <a:xfrm>
            <a:off x="-720" y="360"/>
            <a:ext cx="10079280" cy="566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0" y="3979800"/>
            <a:ext cx="98996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sr-Latn-RS" sz="2000" b="0" i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„Највећа идеја оптичког рачунања није да светлост замени        електронику; 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sr-Latn-RS" sz="2000" b="0" i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већ да физика сама постане алгоритам.“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10"/>
          <p:cNvSpPr/>
          <p:nvPr/>
        </p:nvSpPr>
        <p:spPr>
          <a:xfrm>
            <a:off x="8279640" y="5004720"/>
            <a:ext cx="8733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99C5AE1D-61EF-4DA0-B1F3-BB4A547A358F}" type="slidenum">
              <a:rPr lang="sr-Latn-R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8CB751DA-356F-4900-A195-060378973F23}" type="slidecount">
              <a:rPr lang="sr-Latn-R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3"/>
          <p:cNvSpPr/>
          <p:nvPr/>
        </p:nvSpPr>
        <p:spPr>
          <a:xfrm>
            <a:off x="1259280" y="1169280"/>
            <a:ext cx="75560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sr-Latn-RS" sz="60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DejaVu Sans"/>
              </a:rPr>
              <a:t>Хвала на пажњи!</a:t>
            </a:r>
            <a:endParaRPr lang="sr-Latn-R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4"/>
          <p:cNvSpPr/>
          <p:nvPr/>
        </p:nvSpPr>
        <p:spPr>
          <a:xfrm>
            <a:off x="1259280" y="2351160"/>
            <a:ext cx="7556040" cy="26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Припремили: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Павле Шаренац</a:t>
            </a: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2025/3068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1"/>
              </a:rPr>
              <a:t>sp253068m@student.etf.bg.ac.rs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Никола Николић 2025/3109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2"/>
              </a:rPr>
              <a:t>nn253109m@student.etf.bg.ac.rs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3"/>
          <p:cNvSpPr/>
          <p:nvPr/>
        </p:nvSpPr>
        <p:spPr>
          <a:xfrm>
            <a:off x="8279280" y="5004360"/>
            <a:ext cx="87372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0DD66649-1910-4ACD-9301-66BE1C322A20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B6CDF202-D4BA-47ED-AB7E-79FE029330CF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19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2026-05-28T23:29:56Z</dcterms:created>
  <dc:creator/>
  <dc:description/>
  <dc:language>sr-Latn-RS</dc:language>
  <cp:lastModifiedBy/>
  <cp:lastPrinted>2026-06-17T00:31:15Z</cp:lastPrinted>
  <dcterms:modified xsi:type="dcterms:W3CDTF">2026-06-17T23:48:00Z</dcterms:modified>
  <cp:revision>66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